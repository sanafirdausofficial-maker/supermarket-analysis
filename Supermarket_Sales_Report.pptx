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84faa2858ca4ff0" /><Relationship Type="http://schemas.openxmlformats.org/package/2006/relationships/metadata/core-properties" Target="/docProps/core.xml" Id="R9c7f0b05f3c54dda" /><Relationship Type="http://schemas.openxmlformats.org/officeDocument/2006/relationships/extended-properties" Target="/docProps/app.xml" Id="R2e7a6f89a9d54acc" /><Relationship Type="http://schemas.openxmlformats.org/officeDocument/2006/relationships/custom-properties" Target="/docProps/custom.xml" Id="Rf0fa4712bf254154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e4a649ab40324254"/>
  </p:notesMasterIdLst>
  <p:sldIdLst>
    <p:sldId id="256" r:id="R3c536f6dcb394068"/>
    <p:sldId id="257" r:id="R9d8b2643fbc04dad"/>
    <p:sldId id="258" r:id="R1a36e4b590cc46a5"/>
    <p:sldId id="259" r:id="Rdde0e57118ca4e02"/>
    <p:sldId id="260" r:id="R57e97c04e60843a3"/>
    <p:sldId id="261" r:id="R537d663d751f4fc5"/>
    <p:sldId id="262" r:id="R4edf5fc22d184e24"/>
    <p:sldId id="263" r:id="Rd193226719ab4673"/>
    <p:sldId id="264" r:id="R5cc3be3481a54643"/>
    <p:sldId id="265" r:id="Ra65b3d6193584fa5"/>
    <p:sldId id="266" r:id="R4d59d81796d142a7"/>
    <p:sldId id="267" r:id="Rc1ce657cd29e48c8"/>
    <p:sldId id="268" r:id="R9d60afff0efe462e"/>
    <p:sldId id="269" r:id="Raecbd640ab9648a9"/>
    <p:sldId id="270" r:id="Ra619f698344449f8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3c536f6dcb394068" /><Relationship Type="http://schemas.openxmlformats.org/officeDocument/2006/relationships/notesMaster" Target="/ppt/notesMasters/notesMaster1.xml" Id="Re4a649ab40324254" /><Relationship Type="http://schemas.openxmlformats.org/officeDocument/2006/relationships/slide" Target="/ppt/slides/slide2.xml" Id="R9d8b2643fbc04dad" /><Relationship Type="http://schemas.openxmlformats.org/officeDocument/2006/relationships/slide" Target="/ppt/slides/slide3.xml" Id="R1a36e4b590cc46a5" /><Relationship Type="http://schemas.openxmlformats.org/officeDocument/2006/relationships/slide" Target="/ppt/slides/slide4.xml" Id="Rdde0e57118ca4e02" /><Relationship Type="http://schemas.openxmlformats.org/officeDocument/2006/relationships/slide" Target="/ppt/slides/slide5.xml" Id="R57e97c04e60843a3" /><Relationship Type="http://schemas.openxmlformats.org/officeDocument/2006/relationships/slide" Target="/ppt/slides/slide6.xml" Id="R537d663d751f4fc5" /><Relationship Type="http://schemas.openxmlformats.org/officeDocument/2006/relationships/slide" Target="/ppt/slides/slide7.xml" Id="R4edf5fc22d184e24" /><Relationship Type="http://schemas.openxmlformats.org/officeDocument/2006/relationships/slide" Target="/ppt/slides/slide8.xml" Id="Rd193226719ab4673" /><Relationship Type="http://schemas.openxmlformats.org/officeDocument/2006/relationships/slide" Target="/ppt/slides/slide9.xml" Id="R5cc3be3481a54643" /><Relationship Type="http://schemas.openxmlformats.org/officeDocument/2006/relationships/slide" Target="/ppt/slides/slide10.xml" Id="Ra65b3d6193584fa5" /><Relationship Type="http://schemas.openxmlformats.org/officeDocument/2006/relationships/slide" Target="/ppt/slides/slide11.xml" Id="R4d59d81796d142a7" /><Relationship Type="http://schemas.openxmlformats.org/officeDocument/2006/relationships/slide" Target="/ppt/slides/slide12.xml" Id="Rc1ce657cd29e48c8" /><Relationship Type="http://schemas.openxmlformats.org/officeDocument/2006/relationships/slide" Target="/ppt/slides/slide13.xml" Id="R9d60afff0efe462e" /><Relationship Type="http://schemas.openxmlformats.org/officeDocument/2006/relationships/slide" Target="/ppt/slides/slide14.xml" Id="Raecbd640ab9648a9" /><Relationship Type="http://schemas.openxmlformats.org/officeDocument/2006/relationships/slide" Target="/ppt/slides/slide15.xml" Id="Ra619f698344449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e3fc6e72ada4e78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577d639232c4067" /><Relationship Type="http://schemas.openxmlformats.org/officeDocument/2006/relationships/slide" Target="/ppt/slides/slide1.xml" Id="R528fa28936254e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b4a337431954f19" /><Relationship Type="http://schemas.openxmlformats.org/officeDocument/2006/relationships/slide" Target="/ppt/slides/slide2.xml" Id="R0da519d77b754b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bde74066e2941f8" /><Relationship Type="http://schemas.openxmlformats.org/officeDocument/2006/relationships/slide" Target="/ppt/slides/slide3.xml" Id="R155c16f1614b4a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78cb35b292e47dd" /><Relationship Type="http://schemas.openxmlformats.org/officeDocument/2006/relationships/slide" Target="/ppt/slides/slide4.xml" Id="R85cd6d48631842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4befe9a2ea54e76" /><Relationship Type="http://schemas.openxmlformats.org/officeDocument/2006/relationships/slide" Target="/ppt/slides/slide5.xml" Id="Rcc77a2413b394e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d65480008994928" /><Relationship Type="http://schemas.openxmlformats.org/officeDocument/2006/relationships/slide" Target="/ppt/slides/slide6.xml" Id="R1d8eeee3a61e43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d5056986e804c6c" /><Relationship Type="http://schemas.openxmlformats.org/officeDocument/2006/relationships/slide" Target="/ppt/slides/slide7.xml" Id="R372c5e9e62b544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68b6f708b4c41fe" /><Relationship Type="http://schemas.openxmlformats.org/officeDocument/2006/relationships/slide" Target="/ppt/slides/slide8.xml" Id="Rab514baddbc042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7362586d18e4beb" /><Relationship Type="http://schemas.openxmlformats.org/officeDocument/2006/relationships/slide" Target="/ppt/slides/slide9.xml" Id="R04b4a30f906e4a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58df882cb84470d" /><Relationship Type="http://schemas.openxmlformats.org/officeDocument/2006/relationships/slide" Target="/ppt/slides/slide10.xml" Id="R82d201e43d0d476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23eb62bda80400a" /><Relationship Type="http://schemas.openxmlformats.org/officeDocument/2006/relationships/slide" Target="/ppt/slides/slide11.xml" Id="R6230843398df497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6d4d517b76f4c6c" /><Relationship Type="http://schemas.openxmlformats.org/officeDocument/2006/relationships/slide" Target="/ppt/slides/slide12.xml" Id="Ra13e555b1c79426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4cd8c7cec35407f" /><Relationship Type="http://schemas.openxmlformats.org/officeDocument/2006/relationships/slide" Target="/ppt/slides/slide13.xml" Id="R3f668051f3c049d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c0537ab6f824412" /><Relationship Type="http://schemas.openxmlformats.org/officeDocument/2006/relationships/slide" Target="/ppt/slides/slide14.xml" Id="Rad2dbc6b5e214fc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2ae6cbd32eb4b93" /><Relationship Type="http://schemas.openxmlformats.org/officeDocument/2006/relationships/slide" Target="/ppt/slides/slide15.xml" Id="Rd5f96e3cbacd4d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Title slide. Project on Supermarket Sales Analytics covering 500 transactions across 4 branches.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Table of contents — 12 sections covering all aspects of the analytics project.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Project overview slide. Describes what the project does and its 6 core objectives. Technology stack: Python, Pandas, Plotly, NumPy, Streamlit.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Dataset description: 500 rows, 13 columns. Covers Jan-Jul 2026 across 4 branches in 4 Indian cities.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Data collection and quality check: 500 raw = 500 clean records. Zero missing values, duplicates, or sales mismatches.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KPIs: Total Revenue Rs 2,44,411 | 500 transactions | Avg order Rs 488.82 | Avg rating 3.99 | 2768 units | 20 products.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Category analysis: Beverages leads at 23%. Bakery underperforms (2.7%) but has best ratings. Personal Care drives highest basket size.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Branch performance: Mumbai leads at Rs 72,469. Jaipur lowest at Rs 52,357 with only 105 transactions.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Monthly trends: April 2026 peak at Rs 52,570. Feb lowest at Rs 30,068. Monday is busiest day.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Payment: UPI leads at 25.4%. Nearly balanced across all 4 methods. Members generate Rs 43K more than Normal customers.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Top products: Cheese, Coffee, Shampoo all near Rs 27,500. Bakery rates highest (4.24). Fruits lowest (3.83).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8 business recommendations derived from data: expand Beverages, market Bakery, replicate Mumbai, drive UPI, convert members, Monday promotions, fix Fruits quality, bundle for premiums.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Streamlit dashboard has 8 tabs with 20+ charts. Sidebar filters apply globally. 3 Python modules total.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Conclusion: Full analytics pipeline from CSV to dashboard. 500 records, Rs 2.44L revenue, 8 insights. Future: ML forecasting, clustering, real-time pipeline.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Closing slide.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45f5cc9bd2472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77feb59050406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1fde0d355e42a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2de0d957484ac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b79578d66f4ad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d8b997da63a34da8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2a116fb174149" /><Relationship Type="http://schemas.openxmlformats.org/officeDocument/2006/relationships/notesSlide" Target="/ppt/notesSlides/notesSlide1.xml" Id="R03d11f08b45a4f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95452796c4e96" /><Relationship Type="http://schemas.openxmlformats.org/officeDocument/2006/relationships/notesSlide" Target="/ppt/notesSlides/notesSlide2.xml" Id="R120e44349b3146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5516bba99416e" /><Relationship Type="http://schemas.openxmlformats.org/officeDocument/2006/relationships/notesSlide" Target="/ppt/notesSlides/notesSlide3.xml" Id="R4b1cd13485b04c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1d39796aa4d92" /><Relationship Type="http://schemas.openxmlformats.org/officeDocument/2006/relationships/notesSlide" Target="/ppt/notesSlides/notesSlide4.xml" Id="Re73005820c334c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8224cc47d4b7d" /><Relationship Type="http://schemas.openxmlformats.org/officeDocument/2006/relationships/notesSlide" Target="/ppt/notesSlides/notesSlide5.xml" Id="Rb8fde78f354c45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197d051694f6a" /><Relationship Type="http://schemas.openxmlformats.org/officeDocument/2006/relationships/notesSlide" Target="/ppt/notesSlides/notesSlide6.xml" Id="R71fc16c9d8ea4e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f2e209aea4e1b" /><Relationship Type="http://schemas.openxmlformats.org/officeDocument/2006/relationships/notesSlide" Target="/ppt/notesSlides/notesSlide7.xml" Id="R993e9d6aefd144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b44da18894132" /><Relationship Type="http://schemas.openxmlformats.org/officeDocument/2006/relationships/notesSlide" Target="/ppt/notesSlides/notesSlide8.xml" Id="R7d44f401ddcb43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c2de387614d06" /><Relationship Type="http://schemas.openxmlformats.org/officeDocument/2006/relationships/notesSlide" Target="/ppt/notesSlides/notesSlide9.xml" Id="R10fd336cefe44d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af69d22ed47e1" /><Relationship Type="http://schemas.openxmlformats.org/officeDocument/2006/relationships/notesSlide" Target="/ppt/notesSlides/notesSlide10.xml" Id="R460917053bdd4e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0dfceb1be4b6f" /><Relationship Type="http://schemas.openxmlformats.org/officeDocument/2006/relationships/notesSlide" Target="/ppt/notesSlides/notesSlide11.xml" Id="R7c72ee3f468c42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c17785b724659" /><Relationship Type="http://schemas.openxmlformats.org/officeDocument/2006/relationships/notesSlide" Target="/ppt/notesSlides/notesSlide12.xml" Id="Ref1b57265f1a46a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37105dc36465e" /><Relationship Type="http://schemas.openxmlformats.org/officeDocument/2006/relationships/notesSlide" Target="/ppt/notesSlides/notesSlide13.xml" Id="R9c5f4548e2fc48a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af6ad22d744b6" /><Relationship Type="http://schemas.openxmlformats.org/officeDocument/2006/relationships/notesSlide" Target="/ppt/notesSlides/notesSlide14.xml" Id="R7fbbf8c60bd4423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d0984d2ba495a" /><Relationship Type="http://schemas.openxmlformats.org/officeDocument/2006/relationships/notesSlide" Target="/ppt/notesSlides/notesSlide15.xml" Id="R4da9eda77dc945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A1A2E"/>
        </a:solidFill>
      </p:bgPr>
    </p:bg>
    <p:spTree>
      <p:nvGrpSpPr>
        <p:cNvPr id="1" name=""/>
        <p:cNvGrpSpPr/>
        <p:nvPr/>
      </p:nvGrpSpPr>
      <p:grpSpPr/>
      <p:sp>
        <p:nvSpPr>
          <p:cNvPr id="100000" name="TopBar"/>
          <p:cNvSpPr txBox="1"/>
          <p:nvPr/>
        </p:nvSpPr>
        <p:spPr>
          <a:xfrm xmlns:a="http://schemas.openxmlformats.org/drawingml/2006/main">
            <a:off x="0" y="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E94560"/>
              </a:solidFill>
            </a:endParaRPr>
          </a:p>
        </p:txBody>
      </p:sp>
      <p:sp>
        <p:nvSpPr>
          <p:cNvPr id="100001" name="MainTitle"/>
          <p:cNvSpPr txBox="1"/>
          <p:nvPr/>
        </p:nvSpPr>
        <p:spPr>
          <a:xfrm xmlns:a="http://schemas.openxmlformats.org/drawingml/2006/main">
            <a:off x="540000" y="900000"/>
            <a:ext cx="108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  <a:latin typeface="Calibri"/>
                <a:ea typeface="Calibri"/>
              </a:rPr>
              <a:t>Supermarket Sales Analysis</a:t>
            </a:r>
          </a:p>
        </p:txBody>
      </p:sp>
      <p:sp>
        <p:nvSpPr>
          <p:cNvPr id="100002" name="Subtitle"/>
          <p:cNvSpPr txBox="1"/>
          <p:nvPr/>
        </p:nvSpPr>
        <p:spPr>
          <a:xfrm xmlns:a="http://schemas.openxmlformats.org/drawingml/2006/main">
            <a:off x="540000" y="2088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0">
                <a:solidFill>
                  <a:srgbClr val="A8DADC"/>
                </a:solidFill>
                <a:latin typeface="Calibri"/>
                <a:ea typeface="Calibri"/>
              </a:rPr>
              <a:t>Data Analytics Project Report</a:t>
            </a:r>
          </a:p>
        </p:txBody>
      </p:sp>
      <p:sp>
        <p:nvSpPr>
          <p:cNvPr id="100003" name="DataInfo"/>
          <p:cNvSpPr txBox="1"/>
          <p:nvPr/>
        </p:nvSpPr>
        <p:spPr>
          <a:xfrm xmlns:a="http://schemas.openxmlformats.org/drawingml/2006/main">
            <a:off x="540000" y="288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CCCCCC"/>
                </a:solidFill>
                <a:latin typeface="Calibri"/>
                <a:ea typeface="Calibri"/>
              </a:rPr>
              <a:t>Dataset: 500 Transactions  |  Jan 2026 – Jul 2026  |  4 Branches  |  4 Cities</a:t>
            </a:r>
          </a:p>
        </p:txBody>
      </p:sp>
      <p:sp>
        <p:nvSpPr>
          <p:cNvPr id="100004" name="TechStack"/>
          <p:cNvSpPr txBox="1"/>
          <p:nvPr/>
        </p:nvSpPr>
        <p:spPr>
          <a:xfrm xmlns:a="http://schemas.openxmlformats.org/drawingml/2006/main">
            <a:off x="540000" y="3420000"/>
            <a:ext cx="1080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E94560"/>
                </a:solidFill>
                <a:latin typeface="Calibri"/>
                <a:ea typeface="Calibri"/>
              </a:rPr>
              <a:t>Python  |  Pandas  |  Plotly  |  Streamlit</a:t>
            </a:r>
          </a:p>
        </p:txBody>
      </p:sp>
      <p:sp>
        <p:nvSpPr>
          <p:cNvPr id="100005" name="BottomBar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E94560"/>
              </a:solidFill>
            </a:endParaRP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/>
      <p:sp>
        <p:nvSpPr>
          <p:cNvPr id="100006" name="Header"/>
          <p:cNvSpPr txBox="1"/>
          <p:nvPr/>
        </p:nvSpPr>
        <p:spPr>
          <a:xfrm xmlns:a="http://schemas.openxmlformats.org/drawingml/2006/main">
            <a:off x="0" y="0"/>
            <a:ext cx="121932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7" name="SlideTitle"/>
          <p:cNvSpPr txBox="1"/>
          <p:nvPr/>
        </p:nvSpPr>
        <p:spPr>
          <a:xfrm xmlns:a="http://schemas.openxmlformats.org/drawingml/2006/main">
            <a:off x="540000" y="72000"/>
            <a:ext cx="1008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Table of Contents</a:t>
            </a:r>
          </a:p>
        </p:txBody>
      </p:sp>
      <p:sp>
        <p:nvSpPr>
          <p:cNvPr id="100008" name="SlideNum"/>
          <p:cNvSpPr txBox="1"/>
          <p:nvPr/>
        </p:nvSpPr>
        <p:spPr>
          <a:xfrm xmlns:a="http://schemas.openxmlformats.org/drawingml/2006/main">
            <a:off x="11160000" y="72000"/>
            <a:ext cx="72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E94560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09" name="TOC1"/>
          <p:cNvSpPr txBox="1"/>
          <p:nvPr/>
        </p:nvSpPr>
        <p:spPr>
          <a:xfrm xmlns:a="http://schemas.openxmlformats.org/drawingml/2006/main">
            <a:off x="720000" y="792000"/>
            <a:ext cx="1008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A1A2E"/>
                </a:solidFill>
                <a:latin typeface="Calibri"/>
                <a:ea typeface="Calibri"/>
              </a:rPr>
              <a:t>01  Project Overview &amp; Objectives</a:t>
            </a:r>
          </a:p>
        </p:txBody>
      </p:sp>
      <p:sp>
        <p:nvSpPr>
          <p:cNvPr id="100010" name="TOC2"/>
          <p:cNvSpPr txBox="1"/>
          <p:nvPr/>
        </p:nvSpPr>
        <p:spPr>
          <a:xfrm xmlns:a="http://schemas.openxmlformats.org/drawingml/2006/main">
            <a:off x="720000" y="1188000"/>
            <a:ext cx="1008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A1A2E"/>
                </a:solidFill>
                <a:latin typeface="Calibri"/>
                <a:ea typeface="Calibri"/>
              </a:rPr>
              <a:t>02  Dataset Description</a:t>
            </a:r>
          </a:p>
        </p:txBody>
      </p:sp>
      <p:sp>
        <p:nvSpPr>
          <p:cNvPr id="100011" name="TOC3"/>
          <p:cNvSpPr txBox="1"/>
          <p:nvPr/>
        </p:nvSpPr>
        <p:spPr>
          <a:xfrm xmlns:a="http://schemas.openxmlformats.org/drawingml/2006/main">
            <a:off x="720000" y="1584000"/>
            <a:ext cx="1008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A1A2E"/>
                </a:solidFill>
                <a:latin typeface="Calibri"/>
                <a:ea typeface="Calibri"/>
              </a:rPr>
              <a:t>03  Data Collection &amp; Quality Check</a:t>
            </a:r>
          </a:p>
        </p:txBody>
      </p:sp>
      <p:sp>
        <p:nvSpPr>
          <p:cNvPr id="100012" name="TOC4"/>
          <p:cNvSpPr txBox="1"/>
          <p:nvPr/>
        </p:nvSpPr>
        <p:spPr>
          <a:xfrm xmlns:a="http://schemas.openxmlformats.org/drawingml/2006/main">
            <a:off x="720000" y="1980000"/>
            <a:ext cx="1008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A1A2E"/>
                </a:solidFill>
                <a:latin typeface="Calibri"/>
                <a:ea typeface="Calibri"/>
              </a:rPr>
              <a:t>04  Key Performance Indicators (KPIs)</a:t>
            </a:r>
          </a:p>
        </p:txBody>
      </p:sp>
      <p:sp>
        <p:nvSpPr>
          <p:cNvPr id="100013" name="TOC5"/>
          <p:cNvSpPr txBox="1"/>
          <p:nvPr/>
        </p:nvSpPr>
        <p:spPr>
          <a:xfrm xmlns:a="http://schemas.openxmlformats.org/drawingml/2006/main">
            <a:off x="720000" y="2376000"/>
            <a:ext cx="1008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A1A2E"/>
                </a:solidFill>
                <a:latin typeface="Calibri"/>
                <a:ea typeface="Calibri"/>
              </a:rPr>
              <a:t>05  Sales by Category Analysis</a:t>
            </a:r>
          </a:p>
        </p:txBody>
      </p:sp>
      <p:sp>
        <p:nvSpPr>
          <p:cNvPr id="100014" name="TOC6"/>
          <p:cNvSpPr txBox="1"/>
          <p:nvPr/>
        </p:nvSpPr>
        <p:spPr>
          <a:xfrm xmlns:a="http://schemas.openxmlformats.org/drawingml/2006/main">
            <a:off x="720000" y="2772000"/>
            <a:ext cx="1008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A1A2E"/>
                </a:solidFill>
                <a:latin typeface="Calibri"/>
                <a:ea typeface="Calibri"/>
              </a:rPr>
              <a:t>06  Branch &amp; City Performance</a:t>
            </a:r>
          </a:p>
        </p:txBody>
      </p:sp>
      <p:sp>
        <p:nvSpPr>
          <p:cNvPr id="100015" name="TOC7"/>
          <p:cNvSpPr txBox="1"/>
          <p:nvPr/>
        </p:nvSpPr>
        <p:spPr>
          <a:xfrm xmlns:a="http://schemas.openxmlformats.org/drawingml/2006/main">
            <a:off x="720000" y="3168000"/>
            <a:ext cx="1008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A1A2E"/>
                </a:solidFill>
                <a:latin typeface="Calibri"/>
                <a:ea typeface="Calibri"/>
              </a:rPr>
              <a:t>07  Monthly Revenue Trends</a:t>
            </a:r>
          </a:p>
        </p:txBody>
      </p:sp>
      <p:sp>
        <p:nvSpPr>
          <p:cNvPr id="100016" name="TOC8"/>
          <p:cNvSpPr txBox="1"/>
          <p:nvPr/>
        </p:nvSpPr>
        <p:spPr>
          <a:xfrm xmlns:a="http://schemas.openxmlformats.org/drawingml/2006/main">
            <a:off x="720000" y="3564000"/>
            <a:ext cx="1008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A1A2E"/>
                </a:solidFill>
                <a:latin typeface="Calibri"/>
                <a:ea typeface="Calibri"/>
              </a:rPr>
              <a:t>08  Payment Method &amp; Customer Analysis</a:t>
            </a:r>
          </a:p>
        </p:txBody>
      </p:sp>
      <p:sp>
        <p:nvSpPr>
          <p:cNvPr id="100017" name="TOC9"/>
          <p:cNvSpPr txBox="1"/>
          <p:nvPr/>
        </p:nvSpPr>
        <p:spPr>
          <a:xfrm xmlns:a="http://schemas.openxmlformats.org/drawingml/2006/main">
            <a:off x="720000" y="3960000"/>
            <a:ext cx="1008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A1A2E"/>
                </a:solidFill>
                <a:latin typeface="Calibri"/>
                <a:ea typeface="Calibri"/>
              </a:rPr>
              <a:t>09  Product &amp; Rating Analysis</a:t>
            </a:r>
          </a:p>
        </p:txBody>
      </p:sp>
      <p:sp>
        <p:nvSpPr>
          <p:cNvPr id="100018" name="TOC10"/>
          <p:cNvSpPr txBox="1"/>
          <p:nvPr/>
        </p:nvSpPr>
        <p:spPr>
          <a:xfrm xmlns:a="http://schemas.openxmlformats.org/drawingml/2006/main">
            <a:off x="720000" y="4356000"/>
            <a:ext cx="1008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A1A2E"/>
                </a:solidFill>
                <a:latin typeface="Calibri"/>
                <a:ea typeface="Calibri"/>
              </a:rPr>
              <a:t>10  Business Insights &amp; Recommendations</a:t>
            </a:r>
          </a:p>
        </p:txBody>
      </p:sp>
      <p:sp>
        <p:nvSpPr>
          <p:cNvPr id="100019" name="TOC11"/>
          <p:cNvSpPr txBox="1"/>
          <p:nvPr/>
        </p:nvSpPr>
        <p:spPr>
          <a:xfrm xmlns:a="http://schemas.openxmlformats.org/drawingml/2006/main">
            <a:off x="720000" y="4752000"/>
            <a:ext cx="1008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A1A2E"/>
                </a:solidFill>
                <a:latin typeface="Calibri"/>
                <a:ea typeface="Calibri"/>
              </a:rPr>
              <a:t>11  Streamlit Dashboard Overview</a:t>
            </a:r>
          </a:p>
        </p:txBody>
      </p:sp>
      <p:sp>
        <p:nvSpPr>
          <p:cNvPr id="100020" name="TOC12"/>
          <p:cNvSpPr txBox="1"/>
          <p:nvPr/>
        </p:nvSpPr>
        <p:spPr>
          <a:xfrm xmlns:a="http://schemas.openxmlformats.org/drawingml/2006/main">
            <a:off x="720000" y="5148000"/>
            <a:ext cx="1008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A1A2E"/>
                </a:solidFill>
                <a:latin typeface="Calibri"/>
                <a:ea typeface="Calibri"/>
              </a:rPr>
              <a:t>12  Conclusion</a:t>
            </a:r>
          </a:p>
        </p:txBody>
      </p:sp>
      <p:sp>
        <p:nvSpPr>
          <p:cNvPr id="100021" name="AccentLine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E94560"/>
              </a:solidFill>
            </a:endParaRP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/>
      <p:sp>
        <p:nvSpPr>
          <p:cNvPr id="100022" name="Header"/>
          <p:cNvSpPr txBox="1"/>
          <p:nvPr/>
        </p:nvSpPr>
        <p:spPr>
          <a:xfrm xmlns:a="http://schemas.openxmlformats.org/drawingml/2006/main">
            <a:off x="0" y="0"/>
            <a:ext cx="121932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3" name="SlideTitle"/>
          <p:cNvSpPr txBox="1"/>
          <p:nvPr/>
        </p:nvSpPr>
        <p:spPr>
          <a:xfrm xmlns:a="http://schemas.openxmlformats.org/drawingml/2006/main">
            <a:off x="540000" y="72000"/>
            <a:ext cx="1008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01  Project Overview &amp; Objectives</a:t>
            </a:r>
          </a:p>
        </p:txBody>
      </p:sp>
      <p:sp>
        <p:nvSpPr>
          <p:cNvPr id="100024" name="SlideNum"/>
          <p:cNvSpPr txBox="1"/>
          <p:nvPr/>
        </p:nvSpPr>
        <p:spPr>
          <a:xfrm xmlns:a="http://schemas.openxmlformats.org/drawingml/2006/main">
            <a:off x="11160000" y="72000"/>
            <a:ext cx="72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E94560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25" name="OverviewTitle"/>
          <p:cNvSpPr txBox="1"/>
          <p:nvPr/>
        </p:nvSpPr>
        <p:spPr>
          <a:xfrm xmlns:a="http://schemas.openxmlformats.org/drawingml/2006/main">
            <a:off x="540000" y="720000"/>
            <a:ext cx="1080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A1A2E"/>
                </a:solidFill>
                <a:latin typeface="Calibri"/>
                <a:ea typeface="Calibri"/>
              </a:rPr>
              <a:t>What Is This Project?</a:t>
            </a:r>
          </a:p>
        </p:txBody>
      </p:sp>
      <p:sp>
        <p:nvSpPr>
          <p:cNvPr id="100026" name="OverviewBody"/>
          <p:cNvSpPr txBox="1"/>
          <p:nvPr/>
        </p:nvSpPr>
        <p:spPr>
          <a:xfrm xmlns:a="http://schemas.openxmlformats.org/drawingml/2006/main">
            <a:off x="540000" y="1080000"/>
            <a:ext cx="10800000" cy="7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This project performs a comprehensive end-to-end Data Analytics study on supermarket sales data. Using Python and Streamlit, we transform raw transaction records into actionable business intelligence across 4 branches, 8 product categories, and 4 payment methods.</a:t>
            </a:r>
          </a:p>
        </p:txBody>
      </p:sp>
      <p:sp>
        <p:nvSpPr>
          <p:cNvPr id="100027" name="ObjTitle"/>
          <p:cNvSpPr txBox="1"/>
          <p:nvPr/>
        </p:nvSpPr>
        <p:spPr>
          <a:xfrm xmlns:a="http://schemas.openxmlformats.org/drawingml/2006/main">
            <a:off x="540000" y="1980000"/>
            <a:ext cx="1080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A1A2E"/>
                </a:solidFill>
                <a:latin typeface="Calibri"/>
                <a:ea typeface="Calibri"/>
              </a:rPr>
              <a:t>Project Objectives</a:t>
            </a:r>
          </a:p>
        </p:txBody>
      </p:sp>
      <p:sp>
        <p:nvSpPr>
          <p:cNvPr id="100028" name="Obj1"/>
          <p:cNvSpPr txBox="1"/>
          <p:nvPr/>
        </p:nvSpPr>
        <p:spPr>
          <a:xfrm xmlns:a="http://schemas.openxmlformats.org/drawingml/2006/main">
            <a:off x="540000" y="2340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1  Collect and load the CSV dataset into a structured DataFrame</a:t>
            </a:r>
          </a:p>
        </p:txBody>
      </p:sp>
      <p:sp>
        <p:nvSpPr>
          <p:cNvPr id="100029" name="Obj2"/>
          <p:cNvSpPr txBox="1"/>
          <p:nvPr/>
        </p:nvSpPr>
        <p:spPr>
          <a:xfrm xmlns:a="http://schemas.openxmlformats.org/drawingml/2006/main">
            <a:off x="540000" y="2664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2  Check data for missing values, duplicates, and incorrect calculations</a:t>
            </a:r>
          </a:p>
        </p:txBody>
      </p:sp>
      <p:sp>
        <p:nvSpPr>
          <p:cNvPr id="100030" name="Obj3"/>
          <p:cNvSpPr txBox="1"/>
          <p:nvPr/>
        </p:nvSpPr>
        <p:spPr>
          <a:xfrm xmlns:a="http://schemas.openxmlformats.org/drawingml/2006/main">
            <a:off x="540000" y="2988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3  Calculate and verify Sales = Quantity x Unit Price</a:t>
            </a:r>
          </a:p>
        </p:txBody>
      </p:sp>
      <p:sp>
        <p:nvSpPr>
          <p:cNvPr id="100031" name="Obj4"/>
          <p:cNvSpPr txBox="1"/>
          <p:nvPr/>
        </p:nvSpPr>
        <p:spPr>
          <a:xfrm xmlns:a="http://schemas.openxmlformats.org/drawingml/2006/main">
            <a:off x="540000" y="3312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4  Group and summarize data using totals, counts, and averages</a:t>
            </a:r>
          </a:p>
        </p:txBody>
      </p:sp>
      <p:sp>
        <p:nvSpPr>
          <p:cNvPr id="100032" name="Obj5"/>
          <p:cNvSpPr txBox="1"/>
          <p:nvPr/>
        </p:nvSpPr>
        <p:spPr>
          <a:xfrm xmlns:a="http://schemas.openxmlformats.org/drawingml/2006/main">
            <a:off x="540000" y="3636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5  Create interactive charts to visualize and compare results</a:t>
            </a:r>
          </a:p>
        </p:txBody>
      </p:sp>
      <p:sp>
        <p:nvSpPr>
          <p:cNvPr id="100033" name="Obj6"/>
          <p:cNvSpPr txBox="1"/>
          <p:nvPr/>
        </p:nvSpPr>
        <p:spPr>
          <a:xfrm xmlns:a="http://schemas.openxmlformats.org/drawingml/2006/main">
            <a:off x="540000" y="3960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6  Use data-driven insights to support business decisions</a:t>
            </a:r>
          </a:p>
        </p:txBody>
      </p:sp>
      <p:sp>
        <p:nvSpPr>
          <p:cNvPr id="100034" name="TechLabel"/>
          <p:cNvSpPr txBox="1"/>
          <p:nvPr/>
        </p:nvSpPr>
        <p:spPr>
          <a:xfrm xmlns:a="http://schemas.openxmlformats.org/drawingml/2006/main">
            <a:off x="540000" y="4428000"/>
            <a:ext cx="36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A1A2E"/>
                </a:solidFill>
                <a:latin typeface="Calibri"/>
                <a:ea typeface="Calibri"/>
              </a:rPr>
              <a:t>Technology Stack</a:t>
            </a:r>
          </a:p>
        </p:txBody>
      </p:sp>
      <p:sp>
        <p:nvSpPr>
          <p:cNvPr id="100035" name="Tech1"/>
          <p:cNvSpPr txBox="1"/>
          <p:nvPr/>
        </p:nvSpPr>
        <p:spPr>
          <a:xfrm xmlns:a="http://schemas.openxmlformats.org/drawingml/2006/main">
            <a:off x="540000" y="4752000"/>
            <a:ext cx="198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Python 3.14</a:t>
            </a:r>
          </a:p>
        </p:txBody>
      </p:sp>
      <p:sp>
        <p:nvSpPr>
          <p:cNvPr id="100036" name="Tech2"/>
          <p:cNvSpPr txBox="1"/>
          <p:nvPr/>
        </p:nvSpPr>
        <p:spPr>
          <a:xfrm xmlns:a="http://schemas.openxmlformats.org/drawingml/2006/main">
            <a:off x="2700000" y="4752000"/>
            <a:ext cx="198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Pandas</a:t>
            </a:r>
          </a:p>
        </p:txBody>
      </p:sp>
      <p:sp>
        <p:nvSpPr>
          <p:cNvPr id="100037" name="Tech3"/>
          <p:cNvSpPr txBox="1"/>
          <p:nvPr/>
        </p:nvSpPr>
        <p:spPr>
          <a:xfrm xmlns:a="http://schemas.openxmlformats.org/drawingml/2006/main">
            <a:off x="4860000" y="4752000"/>
            <a:ext cx="198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Plotly</a:t>
            </a:r>
          </a:p>
        </p:txBody>
      </p:sp>
      <p:sp>
        <p:nvSpPr>
          <p:cNvPr id="100038" name="Tech4"/>
          <p:cNvSpPr txBox="1"/>
          <p:nvPr/>
        </p:nvSpPr>
        <p:spPr>
          <a:xfrm xmlns:a="http://schemas.openxmlformats.org/drawingml/2006/main">
            <a:off x="7020000" y="4752000"/>
            <a:ext cx="198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NumPy</a:t>
            </a:r>
          </a:p>
        </p:txBody>
      </p:sp>
      <p:sp>
        <p:nvSpPr>
          <p:cNvPr id="100039" name="Tech5"/>
          <p:cNvSpPr txBox="1"/>
          <p:nvPr/>
        </p:nvSpPr>
        <p:spPr>
          <a:xfrm xmlns:a="http://schemas.openxmlformats.org/drawingml/2006/main">
            <a:off x="9180000" y="4752000"/>
            <a:ext cx="198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Streamlit</a:t>
            </a:r>
          </a:p>
        </p:txBody>
      </p:sp>
      <p:sp>
        <p:nvSpPr>
          <p:cNvPr id="100040" name="AccentLine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E94560"/>
              </a:solidFill>
            </a:endParaRP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/>
      <p:sp>
        <p:nvSpPr>
          <p:cNvPr id="100041" name="Header"/>
          <p:cNvSpPr txBox="1"/>
          <p:nvPr/>
        </p:nvSpPr>
        <p:spPr>
          <a:xfrm xmlns:a="http://schemas.openxmlformats.org/drawingml/2006/main">
            <a:off x="0" y="0"/>
            <a:ext cx="121932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2" name="SlideTitle"/>
          <p:cNvSpPr txBox="1"/>
          <p:nvPr/>
        </p:nvSpPr>
        <p:spPr>
          <a:xfrm xmlns:a="http://schemas.openxmlformats.org/drawingml/2006/main">
            <a:off x="540000" y="72000"/>
            <a:ext cx="1008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02  Dataset Description</a:t>
            </a:r>
          </a:p>
        </p:txBody>
      </p:sp>
      <p:sp>
        <p:nvSpPr>
          <p:cNvPr id="100043" name="SlideNum"/>
          <p:cNvSpPr txBox="1"/>
          <p:nvPr/>
        </p:nvSpPr>
        <p:spPr>
          <a:xfrm xmlns:a="http://schemas.openxmlformats.org/drawingml/2006/main">
            <a:off x="11160000" y="72000"/>
            <a:ext cx="72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E94560"/>
                </a:solidFill>
                <a:latin typeface="Calibri"/>
                <a:ea typeface="Calibri"/>
              </a:rPr>
              <a:t>4</a:t>
            </a:r>
          </a:p>
        </p:txBody>
      </p:sp>
      <p:sp>
        <p:nvSpPr>
          <p:cNvPr id="100044" name="SourceLabel"/>
          <p:cNvSpPr txBox="1"/>
          <p:nvPr/>
        </p:nvSpPr>
        <p:spPr>
          <a:xfrm xmlns:a="http://schemas.openxmlformats.org/drawingml/2006/main">
            <a:off x="540000" y="720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555555"/>
                </a:solidFill>
                <a:latin typeface="Calibri"/>
                <a:ea typeface="Calibri"/>
              </a:rPr>
              <a:t>Data Source: SUPER MARKET DATA - supermarket_sales_500_rows.csv</a:t>
            </a:r>
          </a:p>
        </p:txBody>
      </p:sp>
      <p:sp>
        <p:nvSpPr>
          <p:cNvPr id="100045" name="ColTitle"/>
          <p:cNvSpPr txBox="1"/>
          <p:nvPr/>
        </p:nvSpPr>
        <p:spPr>
          <a:xfrm xmlns:a="http://schemas.openxmlformats.org/drawingml/2006/main">
            <a:off x="540000" y="1080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A1A2E"/>
                </a:solidFill>
                <a:latin typeface="Calibri"/>
                <a:ea typeface="Calibri"/>
              </a:rPr>
              <a:t>Dataset Columns (13 fields)</a:t>
            </a:r>
          </a:p>
        </p:txBody>
      </p:sp>
      <p:sp>
        <p:nvSpPr>
          <p:cNvPr id="100046" name="Col1"/>
          <p:cNvSpPr txBox="1"/>
          <p:nvPr/>
        </p:nvSpPr>
        <p:spPr>
          <a:xfrm>
            <a:off x="540000" y="1368000"/>
            <a:ext cx="10800000" cy="1800000"/>
          </a:xfrm>
          <a:prstGeom prst="rect">
            <a:avLst/>
          </a:prstGeom>
        </p:spPr>
        <p:txBody>
          <a:bodyPr/>
          <a:lstStyle/>
          <a:p>
            <a:r>
              <a:rPr lang="en-US" sz="1400">
                <a:solidFill>
                  <a:srgbClr val="1A1A2E"/>
                </a:solidFill>
                <a:latin typeface="Calibri"/>
                <a:ea typeface="Calibri"/>
              </a:rPr>
              <a:t>Invoice ID  |  String  |  Unique transaction ID</a:t>
            </a:r>
          </a:p>
          <a:p>
            <a:r>
              <a:rPr lang="en-US" sz="1400">
                <a:solidFill>
                  <a:srgbClr val="1A1A2E"/>
                </a:solidFill>
                <a:latin typeface="Calibri"/>
                <a:ea typeface="Calibri"/>
              </a:rPr>
              <a:t>Date  |  Date  |  Jan – Jul 2026</a:t>
            </a:r>
          </a:p>
          <a:p>
            <a:r>
              <a:rPr lang="en-US" sz="1400">
                <a:solidFill>
                  <a:srgbClr val="1A1A2E"/>
                </a:solidFill>
                <a:latin typeface="Calibri"/>
                <a:ea typeface="Calibri"/>
              </a:rPr>
              <a:t>Branch  |  String  |  A, B, C, D</a:t>
            </a:r>
          </a:p>
          <a:p>
            <a:r>
              <a:rPr lang="en-US" sz="1400">
                <a:solidFill>
                  <a:srgbClr val="1A1A2E"/>
                </a:solidFill>
                <a:latin typeface="Calibri"/>
                <a:ea typeface="Calibri"/>
              </a:rPr>
              <a:t>City  |  String  |  Jaipur, Delhi, Mumbai, Bengaluru</a:t>
            </a:r>
          </a:p>
          <a:p>
            <a:r>
              <a:rPr lang="en-US" sz="1400">
                <a:solidFill>
                  <a:srgbClr val="1A1A2E"/>
                </a:solidFill>
                <a:latin typeface="Calibri"/>
                <a:ea typeface="Calibri"/>
              </a:rPr>
              <a:t>Customer Type  |  String  |  Member / Normal</a:t>
            </a:r>
          </a:p>
          <a:p>
            <a:r>
              <a:rPr lang="en-US" sz="1400">
                <a:solidFill>
                  <a:srgbClr val="1A1A2E"/>
                </a:solidFill>
                <a:latin typeface="Calibri"/>
                <a:ea typeface="Calibri"/>
              </a:rPr>
              <a:t>Gender  |  String  |  Male / Female</a:t>
            </a:r>
          </a:p>
          <a:p>
            <a:r>
              <a:rPr lang="en-US" sz="1400">
                <a:solidFill>
                  <a:srgbClr val="1A1A2E"/>
                </a:solidFill>
                <a:latin typeface="Calibri"/>
                <a:ea typeface="Calibri"/>
              </a:rPr>
              <a:t>Product  |  String  |  20 unique products</a:t>
            </a:r>
          </a:p>
        </p:txBody>
      </p:sp>
      <p:sp>
        <p:nvSpPr>
          <p:cNvPr id="100047" name="Col2"/>
          <p:cNvSpPr txBox="1"/>
          <p:nvPr/>
        </p:nvSpPr>
        <p:spPr>
          <a:xfrm>
            <a:off x="540000" y="3348000"/>
            <a:ext cx="10800000" cy="1440000"/>
          </a:xfrm>
          <a:prstGeom prst="rect">
            <a:avLst/>
          </a:prstGeom>
        </p:spPr>
        <p:txBody>
          <a:bodyPr/>
          <a:lstStyle/>
          <a:p>
            <a:r>
              <a:rPr lang="en-US" sz="1400">
                <a:solidFill>
                  <a:srgbClr val="1A1A2E"/>
                </a:solidFill>
                <a:latin typeface="Calibri"/>
                <a:ea typeface="Calibri"/>
              </a:rPr>
              <a:t>Category  |  String  |  8 categories (Beverages, Dairy, Grocery...)</a:t>
            </a:r>
          </a:p>
          <a:p>
            <a:r>
              <a:rPr lang="en-US" sz="1400">
                <a:solidFill>
                  <a:srgbClr val="1A1A2E"/>
                </a:solidFill>
                <a:latin typeface="Calibri"/>
                <a:ea typeface="Calibri"/>
              </a:rPr>
              <a:t>Quantity  |  Integer  |  Units purchased</a:t>
            </a:r>
          </a:p>
          <a:p>
            <a:r>
              <a:rPr lang="en-US" sz="1400">
                <a:solidFill>
                  <a:srgbClr val="1A1A2E"/>
                </a:solidFill>
                <a:latin typeface="Calibri"/>
                <a:ea typeface="Calibri"/>
              </a:rPr>
              <a:t>Unit Price  |  Float  |  Price per unit (INR)</a:t>
            </a:r>
          </a:p>
          <a:p>
            <a:r>
              <a:rPr lang="en-US" sz="1400">
                <a:solidFill>
                  <a:srgbClr val="1A1A2E"/>
                </a:solidFill>
                <a:latin typeface="Calibri"/>
                <a:ea typeface="Calibri"/>
              </a:rPr>
              <a:t>Payment  |  String  |  UPI / Card / Cash / Net Banking</a:t>
            </a:r>
          </a:p>
          <a:p>
            <a:r>
              <a:rPr lang="en-US" sz="1400">
                <a:solidFill>
                  <a:srgbClr val="1A1A2E"/>
                </a:solidFill>
                <a:latin typeface="Calibri"/>
                <a:ea typeface="Calibri"/>
              </a:rPr>
              <a:t>Rating  |  Float  |  Customer rating (1.0 – 5.0)</a:t>
            </a:r>
          </a:p>
          <a:p>
            <a:r>
              <a:rPr lang="en-US" sz="1400">
                <a:solidFill>
                  <a:srgbClr val="1A1A2E"/>
                </a:solidFill>
                <a:latin typeface="Calibri"/>
                <a:ea typeface="Calibri"/>
              </a:rPr>
              <a:t>Sales  |  Float  |  Quantity x Unit Price (INR)</a:t>
            </a:r>
          </a:p>
          <a:p>
            <a:r>
              <a:rPr lang="en-US" sz="1400">
                <a:solidFill>
                  <a:srgbClr val="1A1A2E"/>
                </a:solidFill>
                <a:latin typeface="Calibri"/>
                <a:ea typeface="Calibri"/>
              </a:rPr>
              <a:t>  </a:t>
            </a:r>
          </a:p>
        </p:txBody>
      </p:sp>
      <p:sp>
        <p:nvSpPr>
          <p:cNvPr id="100048" name="Stats"/>
          <p:cNvSpPr txBox="1"/>
          <p:nvPr/>
        </p:nvSpPr>
        <p:spPr>
          <a:xfrm>
            <a:off x="540000" y="4968000"/>
            <a:ext cx="10800000" cy="324000"/>
          </a:xfrm>
          <a:prstGeom prst="rect">
            <a:avLst/>
          </a:prstGeom>
          <a:solidFill>
            <a:srgbClr val="E94560"/>
          </a:solidFill>
        </p:spPr>
        <p:txBody>
          <a:bodyPr/>
          <a:lstStyle/>
          <a:p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500 Transactions    |    13 Columns    |    20 Products    |    8 Categories    |    4 Branches    |    4 Payment Methods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/>
      <p:sp>
        <p:nvSpPr>
          <p:cNvPr id="100049" name="Header"/>
          <p:cNvSpPr txBox="1"/>
          <p:nvPr/>
        </p:nvSpPr>
        <p:spPr>
          <a:xfrm xmlns:a="http://schemas.openxmlformats.org/drawingml/2006/main">
            <a:off x="0" y="0"/>
            <a:ext cx="121932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0" name="SlideTitle"/>
          <p:cNvSpPr txBox="1"/>
          <p:nvPr/>
        </p:nvSpPr>
        <p:spPr>
          <a:xfrm xmlns:a="http://schemas.openxmlformats.org/drawingml/2006/main">
            <a:off x="540000" y="72000"/>
            <a:ext cx="1008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03  Data Collection &amp; Quality Check</a:t>
            </a:r>
          </a:p>
        </p:txBody>
      </p:sp>
      <p:sp>
        <p:nvSpPr>
          <p:cNvPr id="100051" name="SlideNum"/>
          <p:cNvSpPr txBox="1"/>
          <p:nvPr/>
        </p:nvSpPr>
        <p:spPr>
          <a:xfrm xmlns:a="http://schemas.openxmlformats.org/drawingml/2006/main">
            <a:off x="11160000" y="72000"/>
            <a:ext cx="72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E94560"/>
                </a:solidFill>
                <a:latin typeface="Calibri"/>
                <a:ea typeface="Calibri"/>
              </a:rPr>
              <a:t>5</a:t>
            </a:r>
          </a:p>
        </p:txBody>
      </p:sp>
      <p:sp>
        <p:nvSpPr>
          <p:cNvPr id="100052" name="LoadTitle"/>
          <p:cNvSpPr txBox="1"/>
          <p:nvPr/>
        </p:nvSpPr>
        <p:spPr>
          <a:xfrm xmlns:a="http://schemas.openxmlformats.org/drawingml/2006/main">
            <a:off x="540000" y="720000"/>
            <a:ext cx="504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A1A2E"/>
                </a:solidFill>
                <a:latin typeface="Calibri"/>
                <a:ea typeface="Calibri"/>
              </a:rPr>
              <a:t>Step 1: Data Loading</a:t>
            </a:r>
          </a:p>
        </p:txBody>
      </p:sp>
      <p:sp>
        <p:nvSpPr>
          <p:cNvPr id="100053" name="LoadBody"/>
          <p:cNvSpPr txBox="1"/>
          <p:nvPr/>
        </p:nvSpPr>
        <p:spPr>
          <a:xfrm xmlns:a="http://schemas.openxmlformats.org/drawingml/2006/main">
            <a:off x="540000" y="1080000"/>
            <a:ext cx="50400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pandas.read_csv() used to load the CSV</a:t>
            </a:r>
          </a:p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Column existence validated against 13 expected fields</a:t>
            </a:r>
          </a:p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Only known columns retained in defined order</a:t>
            </a:r>
          </a:p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Date column parsed with pd.to_datetime()</a:t>
            </a:r>
          </a:p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Numeric columns coerced with pd.to_numeric()</a:t>
            </a:r>
          </a:p>
        </p:txBody>
      </p:sp>
      <p:sp>
        <p:nvSpPr>
          <p:cNvPr id="100054" name="QCTitle"/>
          <p:cNvSpPr txBox="1"/>
          <p:nvPr/>
        </p:nvSpPr>
        <p:spPr>
          <a:xfrm xmlns:a="http://schemas.openxmlformats.org/drawingml/2006/main">
            <a:off x="6120000" y="720000"/>
            <a:ext cx="54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A1A2E"/>
                </a:solidFill>
                <a:latin typeface="Calibri"/>
                <a:ea typeface="Calibri"/>
              </a:rPr>
              <a:t>Step 2: Quality Checks Performed</a:t>
            </a:r>
          </a:p>
        </p:txBody>
      </p:sp>
      <p:sp>
        <p:nvSpPr>
          <p:cNvPr id="100055" name="QCBody"/>
          <p:cNvSpPr txBox="1"/>
          <p:nvPr/>
        </p:nvSpPr>
        <p:spPr>
          <a:xfrm xmlns:a="http://schemas.openxmlformats.org/drawingml/2006/main">
            <a:off x="6120000" y="1080000"/>
            <a:ext cx="54000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Missing values detected and dropped</a:t>
            </a:r>
          </a:p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Full duplicate rows removed</a:t>
            </a:r>
          </a:p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Sales = Qty x Unit Price cross-verified</a:t>
            </a:r>
          </a:p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Rows with non-positive Qty or Price dropped</a:t>
            </a:r>
          </a:p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Whitespace stripped from all string fields</a:t>
            </a:r>
          </a:p>
        </p:txBody>
      </p:sp>
      <p:sp>
        <p:nvSpPr>
          <p:cNvPr id="100056" name="ResultsTitle"/>
          <p:cNvSpPr txBox="1"/>
          <p:nvPr/>
        </p:nvSpPr>
        <p:spPr>
          <a:xfrm xmlns:a="http://schemas.openxmlformats.org/drawingml/2006/main">
            <a:off x="540000" y="2520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A1A2E"/>
                </a:solidFill>
                <a:latin typeface="Calibri"/>
                <a:ea typeface="Calibri"/>
              </a:rPr>
              <a:t>Quality Check Results</a:t>
            </a:r>
          </a:p>
        </p:txBody>
      </p:sp>
      <p:sp>
        <p:nvSpPr>
          <p:cNvPr id="100057" name="Res1"/>
          <p:cNvSpPr txBox="1"/>
          <p:nvPr/>
        </p:nvSpPr>
        <p:spPr>
          <a:xfrm xmlns:a="http://schemas.openxmlformats.org/drawingml/2006/main">
            <a:off x="540000" y="2952000"/>
            <a:ext cx="216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A1A2E"/>
                </a:solidFill>
                <a:latin typeface="Calibri"/>
                <a:ea typeface="Calibri"/>
              </a:rPr>
              <a:t>500</a:t>
            </a:r>
          </a:p>
        </p:txBody>
      </p:sp>
      <p:sp>
        <p:nvSpPr>
          <p:cNvPr id="100058" name="Res1L"/>
          <p:cNvSpPr txBox="1"/>
          <p:nvPr/>
        </p:nvSpPr>
        <p:spPr>
          <a:xfrm xmlns:a="http://schemas.openxmlformats.org/drawingml/2006/main">
            <a:off x="540000" y="3564000"/>
            <a:ext cx="21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555555"/>
                </a:solidFill>
                <a:latin typeface="Calibri"/>
                <a:ea typeface="Calibri"/>
              </a:rPr>
              <a:t>Raw Records</a:t>
            </a:r>
          </a:p>
        </p:txBody>
      </p:sp>
      <p:sp>
        <p:nvSpPr>
          <p:cNvPr id="100059" name="Res2"/>
          <p:cNvSpPr txBox="1"/>
          <p:nvPr/>
        </p:nvSpPr>
        <p:spPr>
          <a:xfrm xmlns:a="http://schemas.openxmlformats.org/drawingml/2006/main">
            <a:off x="3060000" y="2952000"/>
            <a:ext cx="216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500</a:t>
            </a:r>
          </a:p>
        </p:txBody>
      </p:sp>
      <p:sp>
        <p:nvSpPr>
          <p:cNvPr id="100060" name="Res2L"/>
          <p:cNvSpPr txBox="1"/>
          <p:nvPr/>
        </p:nvSpPr>
        <p:spPr>
          <a:xfrm xmlns:a="http://schemas.openxmlformats.org/drawingml/2006/main">
            <a:off x="3060000" y="3564000"/>
            <a:ext cx="21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555555"/>
                </a:solidFill>
                <a:latin typeface="Calibri"/>
                <a:ea typeface="Calibri"/>
              </a:rPr>
              <a:t>Clean Records</a:t>
            </a:r>
          </a:p>
        </p:txBody>
      </p:sp>
      <p:sp>
        <p:nvSpPr>
          <p:cNvPr id="100061" name="Res3"/>
          <p:cNvSpPr txBox="1"/>
          <p:nvPr/>
        </p:nvSpPr>
        <p:spPr>
          <a:xfrm xmlns:a="http://schemas.openxmlformats.org/drawingml/2006/main">
            <a:off x="5580000" y="2952000"/>
            <a:ext cx="216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0</a:t>
            </a:r>
          </a:p>
        </p:txBody>
      </p:sp>
      <p:sp>
        <p:nvSpPr>
          <p:cNvPr id="100062" name="Res3L"/>
          <p:cNvSpPr txBox="1"/>
          <p:nvPr/>
        </p:nvSpPr>
        <p:spPr>
          <a:xfrm xmlns:a="http://schemas.openxmlformats.org/drawingml/2006/main">
            <a:off x="5580000" y="3564000"/>
            <a:ext cx="21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555555"/>
                </a:solidFill>
                <a:latin typeface="Calibri"/>
                <a:ea typeface="Calibri"/>
              </a:rPr>
              <a:t>Missing Values</a:t>
            </a:r>
          </a:p>
        </p:txBody>
      </p:sp>
      <p:sp>
        <p:nvSpPr>
          <p:cNvPr id="100063" name="Res4"/>
          <p:cNvSpPr txBox="1"/>
          <p:nvPr/>
        </p:nvSpPr>
        <p:spPr>
          <a:xfrm xmlns:a="http://schemas.openxmlformats.org/drawingml/2006/main">
            <a:off x="8100000" y="2952000"/>
            <a:ext cx="180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0</a:t>
            </a:r>
          </a:p>
        </p:txBody>
      </p:sp>
      <p:sp>
        <p:nvSpPr>
          <p:cNvPr id="100064" name="Res4L"/>
          <p:cNvSpPr txBox="1"/>
          <p:nvPr/>
        </p:nvSpPr>
        <p:spPr>
          <a:xfrm xmlns:a="http://schemas.openxmlformats.org/drawingml/2006/main">
            <a:off x="8100000" y="3564000"/>
            <a:ext cx="1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555555"/>
                </a:solidFill>
                <a:latin typeface="Calibri"/>
                <a:ea typeface="Calibri"/>
              </a:rPr>
              <a:t>Duplicates</a:t>
            </a:r>
          </a:p>
        </p:txBody>
      </p:sp>
      <p:sp>
        <p:nvSpPr>
          <p:cNvPr id="100065" name="Res5"/>
          <p:cNvSpPr txBox="1"/>
          <p:nvPr/>
        </p:nvSpPr>
        <p:spPr>
          <a:xfrm xmlns:a="http://schemas.openxmlformats.org/drawingml/2006/main">
            <a:off x="10260000" y="2952000"/>
            <a:ext cx="162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0</a:t>
            </a:r>
          </a:p>
        </p:txBody>
      </p:sp>
      <p:sp>
        <p:nvSpPr>
          <p:cNvPr id="100066" name="Res5L"/>
          <p:cNvSpPr txBox="1"/>
          <p:nvPr/>
        </p:nvSpPr>
        <p:spPr>
          <a:xfrm xmlns:a="http://schemas.openxmlformats.org/drawingml/2006/main">
            <a:off x="10260000" y="3564000"/>
            <a:ext cx="162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555555"/>
                </a:solidFill>
                <a:latin typeface="Calibri"/>
                <a:ea typeface="Calibri"/>
              </a:rPr>
              <a:t>Mismatches</a:t>
            </a:r>
          </a:p>
        </p:txBody>
      </p:sp>
      <p:sp>
        <p:nvSpPr>
          <p:cNvPr id="100067" name="FeatureTitle"/>
          <p:cNvSpPr txBox="1"/>
          <p:nvPr/>
        </p:nvSpPr>
        <p:spPr>
          <a:xfrm xmlns:a="http://schemas.openxmlformats.org/drawingml/2006/main">
            <a:off x="540000" y="4032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A1A2E"/>
                </a:solidFill>
                <a:latin typeface="Calibri"/>
                <a:ea typeface="Calibri"/>
              </a:rPr>
              <a:t>Feature Engineering Added</a:t>
            </a:r>
          </a:p>
        </p:txBody>
      </p:sp>
      <p:sp>
        <p:nvSpPr>
          <p:cNvPr id="100068" name="Features"/>
          <p:cNvSpPr txBox="1"/>
          <p:nvPr/>
        </p:nvSpPr>
        <p:spPr>
          <a:xfrm xmlns:a="http://schemas.openxmlformats.org/drawingml/2006/main">
            <a:off x="540000" y="4392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Year / Month / Month Name / Day of Week / Week Number  |  Revenue Tier (Low / Mid / High / Premium)  |  Sales recalculated as Qty x Unit Price</a:t>
            </a:r>
          </a:p>
        </p:txBody>
      </p:sp>
      <p:sp>
        <p:nvSpPr>
          <p:cNvPr id="100069" name="AccentLine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E94560"/>
              </a:solidFill>
            </a:endParaRP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A1A2E"/>
        </a:solidFill>
      </p:bgPr>
    </p:bg>
    <p:spTree>
      <p:nvGrpSpPr>
        <p:cNvPr id="1" name=""/>
        <p:cNvGrpSpPr/>
        <p:nvPr/>
      </p:nvGrpSpPr>
      <p:grpSpPr/>
      <p:sp>
        <p:nvSpPr>
          <p:cNvPr id="100070" name="TopBar"/>
          <p:cNvSpPr txBox="1"/>
          <p:nvPr/>
        </p:nvSpPr>
        <p:spPr>
          <a:xfrm xmlns:a="http://schemas.openxmlformats.org/drawingml/2006/main">
            <a:off x="0" y="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1" name="SlideTitle"/>
          <p:cNvSpPr txBox="1"/>
          <p:nvPr/>
        </p:nvSpPr>
        <p:spPr>
          <a:xfrm xmlns:a="http://schemas.openxmlformats.org/drawingml/2006/main">
            <a:off x="540000" y="432000"/>
            <a:ext cx="100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04  Key Performance Indicators</a:t>
            </a:r>
          </a:p>
        </p:txBody>
      </p:sp>
      <p:sp>
        <p:nvSpPr>
          <p:cNvPr id="100072" name="SlideNum"/>
          <p:cNvSpPr txBox="1"/>
          <p:nvPr/>
        </p:nvSpPr>
        <p:spPr>
          <a:xfrm xmlns:a="http://schemas.openxmlformats.org/drawingml/2006/main">
            <a:off x="11160000" y="432000"/>
            <a:ext cx="7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E94560"/>
                </a:solidFill>
                <a:latin typeface="Calibri"/>
                <a:ea typeface="Calibri"/>
              </a:rPr>
              <a:t>6</a:t>
            </a:r>
          </a:p>
        </p:txBody>
      </p:sp>
      <p:sp>
        <p:nvSpPr>
          <p:cNvPr id="100073" name="KPI1Val"/>
          <p:cNvSpPr txBox="1"/>
          <p:nvPr/>
        </p:nvSpPr>
        <p:spPr>
          <a:xfrm xmlns:a="http://schemas.openxmlformats.org/drawingml/2006/main">
            <a:off x="360000" y="1080000"/>
            <a:ext cx="270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  <a:latin typeface="Calibri"/>
                <a:ea typeface="Calibri"/>
              </a:rPr>
              <a:t>Rs 2,44,411</a:t>
            </a:r>
          </a:p>
        </p:txBody>
      </p:sp>
      <p:sp>
        <p:nvSpPr>
          <p:cNvPr id="100074" name="KPI1L"/>
          <p:cNvSpPr txBox="1"/>
          <p:nvPr/>
        </p:nvSpPr>
        <p:spPr>
          <a:xfrm xmlns:a="http://schemas.openxmlformats.org/drawingml/2006/main">
            <a:off x="360000" y="1836000"/>
            <a:ext cx="27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A8DADC"/>
                </a:solidFill>
                <a:latin typeface="Calibri"/>
                <a:ea typeface="Calibri"/>
              </a:rPr>
              <a:t>Total Revenue</a:t>
            </a:r>
          </a:p>
        </p:txBody>
      </p:sp>
      <p:sp>
        <p:nvSpPr>
          <p:cNvPr id="100075" name="KPI2Val"/>
          <p:cNvSpPr txBox="1"/>
          <p:nvPr/>
        </p:nvSpPr>
        <p:spPr>
          <a:xfrm xmlns:a="http://schemas.openxmlformats.org/drawingml/2006/main">
            <a:off x="3420000" y="1080000"/>
            <a:ext cx="270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  <a:latin typeface="Calibri"/>
                <a:ea typeface="Calibri"/>
              </a:rPr>
              <a:t>500</a:t>
            </a:r>
          </a:p>
        </p:txBody>
      </p:sp>
      <p:sp>
        <p:nvSpPr>
          <p:cNvPr id="100076" name="KPI2L"/>
          <p:cNvSpPr txBox="1"/>
          <p:nvPr/>
        </p:nvSpPr>
        <p:spPr>
          <a:xfrm xmlns:a="http://schemas.openxmlformats.org/drawingml/2006/main">
            <a:off x="3420000" y="1836000"/>
            <a:ext cx="27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A8DADC"/>
                </a:solidFill>
                <a:latin typeface="Calibri"/>
                <a:ea typeface="Calibri"/>
              </a:rPr>
              <a:t>Total Transactions</a:t>
            </a:r>
          </a:p>
        </p:txBody>
      </p:sp>
      <p:sp>
        <p:nvSpPr>
          <p:cNvPr id="100077" name="KPI3Val"/>
          <p:cNvSpPr txBox="1"/>
          <p:nvPr/>
        </p:nvSpPr>
        <p:spPr>
          <a:xfrm xmlns:a="http://schemas.openxmlformats.org/drawingml/2006/main">
            <a:off x="6480000" y="1080000"/>
            <a:ext cx="270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  <a:latin typeface="Calibri"/>
                <a:ea typeface="Calibri"/>
              </a:rPr>
              <a:t>Rs 488.82</a:t>
            </a:r>
          </a:p>
        </p:txBody>
      </p:sp>
      <p:sp>
        <p:nvSpPr>
          <p:cNvPr id="100078" name="KPI3L"/>
          <p:cNvSpPr txBox="1"/>
          <p:nvPr/>
        </p:nvSpPr>
        <p:spPr>
          <a:xfrm xmlns:a="http://schemas.openxmlformats.org/drawingml/2006/main">
            <a:off x="6480000" y="1836000"/>
            <a:ext cx="27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A8DADC"/>
                </a:solidFill>
                <a:latin typeface="Calibri"/>
                <a:ea typeface="Calibri"/>
              </a:rPr>
              <a:t>Avg Order Value</a:t>
            </a:r>
          </a:p>
        </p:txBody>
      </p:sp>
      <p:sp>
        <p:nvSpPr>
          <p:cNvPr id="100079" name="KPI4Val"/>
          <p:cNvSpPr txBox="1"/>
          <p:nvPr/>
        </p:nvSpPr>
        <p:spPr>
          <a:xfrm xmlns:a="http://schemas.openxmlformats.org/drawingml/2006/main">
            <a:off x="9540000" y="1080000"/>
            <a:ext cx="234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  <a:latin typeface="Calibri"/>
                <a:ea typeface="Calibri"/>
              </a:rPr>
              <a:t>3.99 / 5</a:t>
            </a:r>
          </a:p>
        </p:txBody>
      </p:sp>
      <p:sp>
        <p:nvSpPr>
          <p:cNvPr id="100080" name="KPI4L"/>
          <p:cNvSpPr txBox="1"/>
          <p:nvPr/>
        </p:nvSpPr>
        <p:spPr>
          <a:xfrm xmlns:a="http://schemas.openxmlformats.org/drawingml/2006/main">
            <a:off x="9540000" y="1836000"/>
            <a:ext cx="234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A8DADC"/>
                </a:solidFill>
                <a:latin typeface="Calibri"/>
                <a:ea typeface="Calibri"/>
              </a:rPr>
              <a:t>Avg Customer Rating</a:t>
            </a:r>
          </a:p>
        </p:txBody>
      </p:sp>
      <p:sp>
        <p:nvSpPr>
          <p:cNvPr id="100081" name="KPI5Val"/>
          <p:cNvSpPr txBox="1"/>
          <p:nvPr/>
        </p:nvSpPr>
        <p:spPr>
          <a:xfrm xmlns:a="http://schemas.openxmlformats.org/drawingml/2006/main">
            <a:off x="360000" y="2448000"/>
            <a:ext cx="270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  <a:latin typeface="Calibri"/>
                <a:ea typeface="Calibri"/>
              </a:rPr>
              <a:t>2,768</a:t>
            </a:r>
          </a:p>
        </p:txBody>
      </p:sp>
      <p:sp>
        <p:nvSpPr>
          <p:cNvPr id="100082" name="KPI5L"/>
          <p:cNvSpPr txBox="1"/>
          <p:nvPr/>
        </p:nvSpPr>
        <p:spPr>
          <a:xfrm xmlns:a="http://schemas.openxmlformats.org/drawingml/2006/main">
            <a:off x="360000" y="3204000"/>
            <a:ext cx="27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A8DADC"/>
                </a:solidFill>
                <a:latin typeface="Calibri"/>
                <a:ea typeface="Calibri"/>
              </a:rPr>
              <a:t>Total Units Sold</a:t>
            </a:r>
          </a:p>
        </p:txBody>
      </p:sp>
      <p:sp>
        <p:nvSpPr>
          <p:cNvPr id="100083" name="KPI6Val"/>
          <p:cNvSpPr txBox="1"/>
          <p:nvPr/>
        </p:nvSpPr>
        <p:spPr>
          <a:xfrm xmlns:a="http://schemas.openxmlformats.org/drawingml/2006/main">
            <a:off x="3420000" y="2448000"/>
            <a:ext cx="270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  <a:latin typeface="Calibri"/>
                <a:ea typeface="Calibri"/>
              </a:rPr>
              <a:t>5.54</a:t>
            </a:r>
          </a:p>
        </p:txBody>
      </p:sp>
      <p:sp>
        <p:nvSpPr>
          <p:cNvPr id="100084" name="KPI6L"/>
          <p:cNvSpPr txBox="1"/>
          <p:nvPr/>
        </p:nvSpPr>
        <p:spPr>
          <a:xfrm xmlns:a="http://schemas.openxmlformats.org/drawingml/2006/main">
            <a:off x="3420000" y="3204000"/>
            <a:ext cx="27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A8DADC"/>
                </a:solidFill>
                <a:latin typeface="Calibri"/>
                <a:ea typeface="Calibri"/>
              </a:rPr>
              <a:t>Avg Units / Order</a:t>
            </a:r>
          </a:p>
        </p:txBody>
      </p:sp>
      <p:sp>
        <p:nvSpPr>
          <p:cNvPr id="100085" name="KPI7Val"/>
          <p:cNvSpPr txBox="1"/>
          <p:nvPr/>
        </p:nvSpPr>
        <p:spPr>
          <a:xfrm xmlns:a="http://schemas.openxmlformats.org/drawingml/2006/main">
            <a:off x="6480000" y="2448000"/>
            <a:ext cx="270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  <a:latin typeface="Calibri"/>
                <a:ea typeface="Calibri"/>
              </a:rPr>
              <a:t>20</a:t>
            </a:r>
          </a:p>
        </p:txBody>
      </p:sp>
      <p:sp>
        <p:nvSpPr>
          <p:cNvPr id="100086" name="KPI7L"/>
          <p:cNvSpPr txBox="1"/>
          <p:nvPr/>
        </p:nvSpPr>
        <p:spPr>
          <a:xfrm xmlns:a="http://schemas.openxmlformats.org/drawingml/2006/main">
            <a:off x="6480000" y="3204000"/>
            <a:ext cx="27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A8DADC"/>
                </a:solidFill>
                <a:latin typeface="Calibri"/>
                <a:ea typeface="Calibri"/>
              </a:rPr>
              <a:t>Unique Products</a:t>
            </a:r>
          </a:p>
        </p:txBody>
      </p:sp>
      <p:sp>
        <p:nvSpPr>
          <p:cNvPr id="100087" name="KPI8Val"/>
          <p:cNvSpPr txBox="1"/>
          <p:nvPr/>
        </p:nvSpPr>
        <p:spPr>
          <a:xfrm xmlns:a="http://schemas.openxmlformats.org/drawingml/2006/main">
            <a:off x="9540000" y="2448000"/>
            <a:ext cx="234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  <a:latin typeface="Calibri"/>
                <a:ea typeface="Calibri"/>
              </a:rPr>
              <a:t>8</a:t>
            </a:r>
          </a:p>
        </p:txBody>
      </p:sp>
      <p:sp>
        <p:nvSpPr>
          <p:cNvPr id="100088" name="KPI8L"/>
          <p:cNvSpPr txBox="1"/>
          <p:nvPr/>
        </p:nvSpPr>
        <p:spPr>
          <a:xfrm xmlns:a="http://schemas.openxmlformats.org/drawingml/2006/main">
            <a:off x="9540000" y="3204000"/>
            <a:ext cx="234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A8DADC"/>
                </a:solidFill>
                <a:latin typeface="Calibri"/>
                <a:ea typeface="Calibri"/>
              </a:rPr>
              <a:t>Product Categories</a:t>
            </a:r>
          </a:p>
        </p:txBody>
      </p:sp>
      <p:sp>
        <p:nvSpPr>
          <p:cNvPr id="100089" name="TopNote"/>
          <p:cNvSpPr txBox="1"/>
          <p:nvPr/>
        </p:nvSpPr>
        <p:spPr>
          <a:xfrm xmlns:a="http://schemas.openxmlformats.org/drawingml/2006/main">
            <a:off x="360000" y="3780000"/>
            <a:ext cx="1152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Top Category: Beverages (Rs 56,108 | 23%)   |   Best Branch: Mumbai - C (Rs 72,469)   |   Peak Day: Monday (Rs 42,602)</a:t>
            </a:r>
          </a:p>
        </p:txBody>
      </p:sp>
      <p:sp>
        <p:nvSpPr>
          <p:cNvPr id="100090" name="BottomBar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/>
      <p:sp>
        <p:nvSpPr>
          <p:cNvPr id="100091" name="Header"/>
          <p:cNvSpPr txBox="1"/>
          <p:nvPr/>
        </p:nvSpPr>
        <p:spPr>
          <a:xfrm xmlns:a="http://schemas.openxmlformats.org/drawingml/2006/main">
            <a:off x="0" y="0"/>
            <a:ext cx="121932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2" name="SlideTitle"/>
          <p:cNvSpPr txBox="1"/>
          <p:nvPr/>
        </p:nvSpPr>
        <p:spPr>
          <a:xfrm xmlns:a="http://schemas.openxmlformats.org/drawingml/2006/main">
            <a:off x="540000" y="72000"/>
            <a:ext cx="1008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05  Sales by Category Analysis</a:t>
            </a:r>
          </a:p>
        </p:txBody>
      </p:sp>
      <p:sp>
        <p:nvSpPr>
          <p:cNvPr id="100093" name="SlideNum"/>
          <p:cNvSpPr txBox="1"/>
          <p:nvPr/>
        </p:nvSpPr>
        <p:spPr>
          <a:xfrm xmlns:a="http://schemas.openxmlformats.org/drawingml/2006/main">
            <a:off x="11160000" y="72000"/>
            <a:ext cx="72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E94560"/>
                </a:solidFill>
                <a:latin typeface="Calibri"/>
                <a:ea typeface="Calibri"/>
              </a:rPr>
              <a:t>7</a:t>
            </a:r>
          </a:p>
        </p:txBody>
      </p:sp>
      <p:sp>
        <p:nvSpPr>
          <p:cNvPr id="100094" name="TableHdr"/>
          <p:cNvSpPr txBox="1"/>
          <p:nvPr/>
        </p:nvSpPr>
        <p:spPr>
          <a:xfrm xmlns:a="http://schemas.openxmlformats.org/drawingml/2006/main">
            <a:off x="540000" y="720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A1A2E"/>
                </a:solidFill>
                <a:latin typeface="Calibri"/>
                <a:ea typeface="Calibri"/>
              </a:rPr>
              <a:t>Category Summary Table</a:t>
            </a:r>
          </a:p>
        </p:txBody>
      </p:sp>
      <p:sp>
        <p:nvSpPr>
          <p:cNvPr id="100095" name="ColHdr"/>
          <p:cNvSpPr txBox="1"/>
          <p:nvPr/>
        </p:nvSpPr>
        <p:spPr>
          <a:xfrm xmlns:a="http://schemas.openxmlformats.org/drawingml/2006/main">
            <a:off x="540000" y="1080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Category            Revenue (Rs)   Transactions   Avg Order (Rs)   Avg Rating   Share %</a:t>
            </a:r>
          </a:p>
        </p:txBody>
      </p:sp>
      <p:sp>
        <p:nvSpPr>
          <p:cNvPr id="100096" name="R1"/>
          <p:cNvSpPr txBox="1"/>
          <p:nvPr/>
        </p:nvSpPr>
        <p:spPr>
          <a:xfrm xmlns:a="http://schemas.openxmlformats.org/drawingml/2006/main">
            <a:off x="540000" y="1368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1A2E"/>
                </a:solidFill>
                <a:latin typeface="Calibri"/>
                <a:ea typeface="Calibri"/>
              </a:rPr>
              <a:t>Beverages            56,108         82              684              3.96         23.0%</a:t>
            </a:r>
          </a:p>
        </p:txBody>
      </p:sp>
      <p:sp>
        <p:nvSpPr>
          <p:cNvPr id="100097" name="R2"/>
          <p:cNvSpPr txBox="1"/>
          <p:nvPr/>
        </p:nvSpPr>
        <p:spPr>
          <a:xfrm xmlns:a="http://schemas.openxmlformats.org/drawingml/2006/main">
            <a:off x="540000" y="1656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1A2E"/>
                </a:solidFill>
                <a:latin typeface="Calibri"/>
                <a:ea typeface="Calibri"/>
              </a:rPr>
              <a:t>Personal Care        45,944         73              629              3.95         18.8%</a:t>
            </a:r>
          </a:p>
        </p:txBody>
      </p:sp>
      <p:sp>
        <p:nvSpPr>
          <p:cNvPr id="100098" name="R3"/>
          <p:cNvSpPr txBox="1"/>
          <p:nvPr/>
        </p:nvSpPr>
        <p:spPr>
          <a:xfrm xmlns:a="http://schemas.openxmlformats.org/drawingml/2006/main">
            <a:off x="540000" y="1944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1A2E"/>
                </a:solidFill>
                <a:latin typeface="Calibri"/>
                <a:ea typeface="Calibri"/>
              </a:rPr>
              <a:t>Dairy                43,992         68              647              4.03         18.0%</a:t>
            </a:r>
          </a:p>
        </p:txBody>
      </p:sp>
      <p:sp>
        <p:nvSpPr>
          <p:cNvPr id="100099" name="R4"/>
          <p:cNvSpPr txBox="1"/>
          <p:nvPr/>
        </p:nvSpPr>
        <p:spPr>
          <a:xfrm xmlns:a="http://schemas.openxmlformats.org/drawingml/2006/main">
            <a:off x="540000" y="2232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1A2E"/>
                </a:solidFill>
                <a:latin typeface="Calibri"/>
                <a:ea typeface="Calibri"/>
              </a:rPr>
              <a:t>Grocery              40,470         82              494              3.94         16.6%</a:t>
            </a:r>
          </a:p>
        </p:txBody>
      </p:sp>
      <p:sp>
        <p:nvSpPr>
          <p:cNvPr id="100100" name="R5"/>
          <p:cNvSpPr txBox="1"/>
          <p:nvPr/>
        </p:nvSpPr>
        <p:spPr>
          <a:xfrm xmlns:a="http://schemas.openxmlformats.org/drawingml/2006/main">
            <a:off x="540000" y="2520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1A2E"/>
                </a:solidFill>
                <a:latin typeface="Calibri"/>
                <a:ea typeface="Calibri"/>
              </a:rPr>
              <a:t>Fruits               23,263         44              529              3.83          9.5%</a:t>
            </a:r>
          </a:p>
        </p:txBody>
      </p:sp>
      <p:sp>
        <p:nvSpPr>
          <p:cNvPr id="100101" name="R6"/>
          <p:cNvSpPr txBox="1"/>
          <p:nvPr/>
        </p:nvSpPr>
        <p:spPr>
          <a:xfrm xmlns:a="http://schemas.openxmlformats.org/drawingml/2006/main">
            <a:off x="540000" y="2808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1A2E"/>
                </a:solidFill>
                <a:latin typeface="Calibri"/>
                <a:ea typeface="Calibri"/>
              </a:rPr>
              <a:t>Snacks               16,993         75              227              4.11          7.0%</a:t>
            </a:r>
          </a:p>
        </p:txBody>
      </p:sp>
      <p:sp>
        <p:nvSpPr>
          <p:cNvPr id="100102" name="R7"/>
          <p:cNvSpPr txBox="1"/>
          <p:nvPr/>
        </p:nvSpPr>
        <p:spPr>
          <a:xfrm xmlns:a="http://schemas.openxmlformats.org/drawingml/2006/main">
            <a:off x="540000" y="3096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1A2E"/>
                </a:solidFill>
                <a:latin typeface="Calibri"/>
                <a:ea typeface="Calibri"/>
              </a:rPr>
              <a:t>Vegetables           11,124         48              232              3.99          4.6%</a:t>
            </a:r>
          </a:p>
        </p:txBody>
      </p:sp>
      <p:sp>
        <p:nvSpPr>
          <p:cNvPr id="100103" name="R8"/>
          <p:cNvSpPr txBox="1"/>
          <p:nvPr/>
        </p:nvSpPr>
        <p:spPr>
          <a:xfrm xmlns:a="http://schemas.openxmlformats.org/drawingml/2006/main">
            <a:off x="540000" y="3384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1A2E"/>
                </a:solidFill>
                <a:latin typeface="Calibri"/>
                <a:ea typeface="Calibri"/>
              </a:rPr>
              <a:t>Bakery                6,516         28              233              4.24          2.7%</a:t>
            </a:r>
          </a:p>
        </p:txBody>
      </p:sp>
      <p:sp>
        <p:nvSpPr>
          <p:cNvPr id="100104" name="KeyTitle"/>
          <p:cNvSpPr txBox="1"/>
          <p:nvPr/>
        </p:nvSpPr>
        <p:spPr>
          <a:xfrm xmlns:a="http://schemas.openxmlformats.org/drawingml/2006/main">
            <a:off x="540000" y="3816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A1A2E"/>
                </a:solidFill>
                <a:latin typeface="Calibri"/>
                <a:ea typeface="Calibri"/>
              </a:rPr>
              <a:t>Key Findings</a:t>
            </a:r>
          </a:p>
        </p:txBody>
      </p:sp>
      <p:sp>
        <p:nvSpPr>
          <p:cNvPr id="100105" name="K1"/>
          <p:cNvSpPr txBox="1"/>
          <p:nvPr/>
        </p:nvSpPr>
        <p:spPr>
          <a:xfrm xmlns:a="http://schemas.openxmlformats.org/drawingml/2006/main">
            <a:off x="540000" y="4140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Beverages dominates with 23% of total revenue (Rs 56,108) — highest transaction count of 82</a:t>
            </a:r>
          </a:p>
        </p:txBody>
      </p:sp>
      <p:sp>
        <p:nvSpPr>
          <p:cNvPr id="100106" name="K2"/>
          <p:cNvSpPr txBox="1"/>
          <p:nvPr/>
        </p:nvSpPr>
        <p:spPr>
          <a:xfrm xmlns:a="http://schemas.openxmlformats.org/drawingml/2006/main">
            <a:off x="540000" y="4428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Bakery is the least revenue-generating category (2.7%) — only 28 transactions</a:t>
            </a:r>
          </a:p>
        </p:txBody>
      </p:sp>
      <p:sp>
        <p:nvSpPr>
          <p:cNvPr id="100107" name="K3"/>
          <p:cNvSpPr txBox="1"/>
          <p:nvPr/>
        </p:nvSpPr>
        <p:spPr>
          <a:xfrm xmlns:a="http://schemas.openxmlformats.org/drawingml/2006/main">
            <a:off x="540000" y="4716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Bakery has the highest avg rating (4.24) — quality is good, awareness &amp; marketing are the gap</a:t>
            </a:r>
          </a:p>
        </p:txBody>
      </p:sp>
      <p:sp>
        <p:nvSpPr>
          <p:cNvPr id="100108" name="K4"/>
          <p:cNvSpPr txBox="1"/>
          <p:nvPr/>
        </p:nvSpPr>
        <p:spPr>
          <a:xfrm xmlns:a="http://schemas.openxmlformats.org/drawingml/2006/main">
            <a:off x="540000" y="5004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Personal Care has the highest avg order value (Rs 629) — premium products drive basket size</a:t>
            </a:r>
          </a:p>
        </p:txBody>
      </p:sp>
      <p:sp>
        <p:nvSpPr>
          <p:cNvPr id="100109" name="AccentLine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E94560"/>
              </a:solidFill>
            </a:endParaRP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/>
      <p:sp>
        <p:nvSpPr>
          <p:cNvPr id="100110" name="Header"/>
          <p:cNvSpPr txBox="1"/>
          <p:nvPr/>
        </p:nvSpPr>
        <p:spPr>
          <a:xfrm xmlns:a="http://schemas.openxmlformats.org/drawingml/2006/main">
            <a:off x="0" y="0"/>
            <a:ext cx="121932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1" name="SlideTitle"/>
          <p:cNvSpPr txBox="1"/>
          <p:nvPr/>
        </p:nvSpPr>
        <p:spPr>
          <a:xfrm xmlns:a="http://schemas.openxmlformats.org/drawingml/2006/main">
            <a:off x="540000" y="72000"/>
            <a:ext cx="1008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06  Branch &amp; City Performance</a:t>
            </a:r>
          </a:p>
        </p:txBody>
      </p:sp>
      <p:sp>
        <p:nvSpPr>
          <p:cNvPr id="100112" name="SlideNum"/>
          <p:cNvSpPr txBox="1"/>
          <p:nvPr/>
        </p:nvSpPr>
        <p:spPr>
          <a:xfrm xmlns:a="http://schemas.openxmlformats.org/drawingml/2006/main">
            <a:off x="11160000" y="72000"/>
            <a:ext cx="72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E94560"/>
                </a:solidFill>
                <a:latin typeface="Calibri"/>
                <a:ea typeface="Calibri"/>
              </a:rPr>
              <a:t>8</a:t>
            </a:r>
          </a:p>
        </p:txBody>
      </p:sp>
      <p:sp>
        <p:nvSpPr>
          <p:cNvPr id="100113" name="BranchTitle"/>
          <p:cNvSpPr txBox="1"/>
          <p:nvPr/>
        </p:nvSpPr>
        <p:spPr>
          <a:xfrm xmlns:a="http://schemas.openxmlformats.org/drawingml/2006/main">
            <a:off x="540000" y="720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A1A2E"/>
                </a:solidFill>
                <a:latin typeface="Calibri"/>
                <a:ea typeface="Calibri"/>
              </a:rPr>
              <a:t>Branch Revenue Comparison</a:t>
            </a:r>
          </a:p>
        </p:txBody>
      </p:sp>
      <p:sp>
        <p:nvSpPr>
          <p:cNvPr id="100114" name="BHdr"/>
          <p:cNvSpPr txBox="1"/>
          <p:nvPr/>
        </p:nvSpPr>
        <p:spPr>
          <a:xfrm xmlns:a="http://schemas.openxmlformats.org/drawingml/2006/main">
            <a:off x="540000" y="1044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Branch   City          Revenue (Rs)   Transactions   Avg Order (Rs)   Avg Rating   Share %</a:t>
            </a:r>
          </a:p>
        </p:txBody>
      </p:sp>
      <p:sp>
        <p:nvSpPr>
          <p:cNvPr id="100115" name="BR1"/>
          <p:cNvSpPr txBox="1"/>
          <p:nvPr/>
        </p:nvSpPr>
        <p:spPr>
          <a:xfrm xmlns:a="http://schemas.openxmlformats.org/drawingml/2006/main">
            <a:off x="540000" y="1332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  <a:latin typeface="Calibri"/>
                <a:ea typeface="Calibri"/>
              </a:rPr>
              <a:t>C          Mumbai         72,469           143               507              -         29.7%</a:t>
            </a:r>
          </a:p>
        </p:txBody>
      </p:sp>
      <p:sp>
        <p:nvSpPr>
          <p:cNvPr id="100116" name="BR2"/>
          <p:cNvSpPr txBox="1"/>
          <p:nvPr/>
        </p:nvSpPr>
        <p:spPr>
          <a:xfrm xmlns:a="http://schemas.openxmlformats.org/drawingml/2006/main">
            <a:off x="540000" y="1620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1A2E"/>
                </a:solidFill>
                <a:latin typeface="Calibri"/>
                <a:ea typeface="Calibri"/>
              </a:rPr>
              <a:t>B          Delhi           64,116           133               482              -         26.2%</a:t>
            </a:r>
          </a:p>
        </p:txBody>
      </p:sp>
      <p:sp>
        <p:nvSpPr>
          <p:cNvPr id="100117" name="BR3"/>
          <p:cNvSpPr txBox="1"/>
          <p:nvPr/>
        </p:nvSpPr>
        <p:spPr>
          <a:xfrm xmlns:a="http://schemas.openxmlformats.org/drawingml/2006/main">
            <a:off x="540000" y="1908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1A2E"/>
                </a:solidFill>
                <a:latin typeface="Calibri"/>
                <a:ea typeface="Calibri"/>
              </a:rPr>
              <a:t>D          Bengaluru       55,468           119               466              -         22.7%</a:t>
            </a:r>
          </a:p>
        </p:txBody>
      </p:sp>
      <p:sp>
        <p:nvSpPr>
          <p:cNvPr id="100118" name="BR4"/>
          <p:cNvSpPr txBox="1"/>
          <p:nvPr/>
        </p:nvSpPr>
        <p:spPr>
          <a:xfrm xmlns:a="http://schemas.openxmlformats.org/drawingml/2006/main">
            <a:off x="540000" y="2196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1A2E"/>
                </a:solidFill>
                <a:latin typeface="Calibri"/>
                <a:ea typeface="Calibri"/>
              </a:rPr>
              <a:t>A          Jaipur          52,357           105               499              -         21.4%</a:t>
            </a:r>
          </a:p>
        </p:txBody>
      </p:sp>
      <p:sp>
        <p:nvSpPr>
          <p:cNvPr id="100119" name="VisLabel"/>
          <p:cNvSpPr txBox="1"/>
          <p:nvPr/>
        </p:nvSpPr>
        <p:spPr>
          <a:xfrm xmlns:a="http://schemas.openxmlformats.org/drawingml/2006/main">
            <a:off x="540000" y="2628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A1A2E"/>
                </a:solidFill>
                <a:latin typeface="Calibri"/>
                <a:ea typeface="Calibri"/>
              </a:rPr>
              <a:t>Revenue Bar (Rs)</a:t>
            </a:r>
          </a:p>
        </p:txBody>
      </p:sp>
      <p:sp>
        <p:nvSpPr>
          <p:cNvPr id="100120" name="BarC"/>
          <p:cNvSpPr txBox="1"/>
          <p:nvPr/>
        </p:nvSpPr>
        <p:spPr>
          <a:xfrm xmlns:a="http://schemas.openxmlformats.org/drawingml/2006/main">
            <a:off x="540000" y="2916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Mumbai - C  [===========================================]  Rs 72,469</a:t>
            </a:r>
          </a:p>
        </p:txBody>
      </p:sp>
      <p:sp>
        <p:nvSpPr>
          <p:cNvPr id="100121" name="BarB"/>
          <p:cNvSpPr txBox="1"/>
          <p:nvPr/>
        </p:nvSpPr>
        <p:spPr>
          <a:xfrm xmlns:a="http://schemas.openxmlformats.org/drawingml/2006/main">
            <a:off x="540000" y="3204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Delhi - B    [====================================]  Rs 64,116</a:t>
            </a:r>
          </a:p>
        </p:txBody>
      </p:sp>
      <p:sp>
        <p:nvSpPr>
          <p:cNvPr id="100122" name="BarD"/>
          <p:cNvSpPr txBox="1"/>
          <p:nvPr/>
        </p:nvSpPr>
        <p:spPr>
          <a:xfrm xmlns:a="http://schemas.openxmlformats.org/drawingml/2006/main">
            <a:off x="540000" y="3492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Bengaluru-D [================================]  Rs 55,468</a:t>
            </a:r>
          </a:p>
        </p:txBody>
      </p:sp>
      <p:sp>
        <p:nvSpPr>
          <p:cNvPr id="100123" name="BarA"/>
          <p:cNvSpPr txBox="1"/>
          <p:nvPr/>
        </p:nvSpPr>
        <p:spPr>
          <a:xfrm xmlns:a="http://schemas.openxmlformats.org/drawingml/2006/main">
            <a:off x="540000" y="3780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Jaipur - A   [==============================]  Rs 52,357</a:t>
            </a:r>
          </a:p>
        </p:txBody>
      </p:sp>
      <p:sp>
        <p:nvSpPr>
          <p:cNvPr id="100124" name="FindingsTitle"/>
          <p:cNvSpPr txBox="1"/>
          <p:nvPr/>
        </p:nvSpPr>
        <p:spPr>
          <a:xfrm xmlns:a="http://schemas.openxmlformats.org/drawingml/2006/main">
            <a:off x="540000" y="4212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A1A2E"/>
                </a:solidFill>
                <a:latin typeface="Calibri"/>
                <a:ea typeface="Calibri"/>
              </a:rPr>
              <a:t>Branch Insights</a:t>
            </a:r>
          </a:p>
        </p:txBody>
      </p:sp>
      <p:sp>
        <p:nvSpPr>
          <p:cNvPr id="100125" name="F1"/>
          <p:cNvSpPr txBox="1"/>
          <p:nvPr/>
        </p:nvSpPr>
        <p:spPr>
          <a:xfrm xmlns:a="http://schemas.openxmlformats.org/drawingml/2006/main">
            <a:off x="540000" y="4536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Mumbai (Branch C) leads with Rs 72,469 — highest transactions (143) &amp; highest avg order (Rs 507)</a:t>
            </a:r>
          </a:p>
        </p:txBody>
      </p:sp>
      <p:sp>
        <p:nvSpPr>
          <p:cNvPr id="100126" name="F2"/>
          <p:cNvSpPr txBox="1"/>
          <p:nvPr/>
        </p:nvSpPr>
        <p:spPr>
          <a:xfrm xmlns:a="http://schemas.openxmlformats.org/drawingml/2006/main">
            <a:off x="540000" y="4824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Jaipur (Branch A) has fewest transactions (105) — opportunity for customer acquisition campaigns</a:t>
            </a:r>
          </a:p>
        </p:txBody>
      </p:sp>
      <p:sp>
        <p:nvSpPr>
          <p:cNvPr id="100127" name="F3"/>
          <p:cNvSpPr txBox="1"/>
          <p:nvPr/>
        </p:nvSpPr>
        <p:spPr>
          <a:xfrm xmlns:a="http://schemas.openxmlformats.org/drawingml/2006/main">
            <a:off x="540000" y="5112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Revenue gap between top (C) and bottom (A) is Rs 20,112 — replicate Mumbai's category mix in Jaipur</a:t>
            </a:r>
          </a:p>
        </p:txBody>
      </p:sp>
      <p:sp>
        <p:nvSpPr>
          <p:cNvPr id="100128" name="AccentLine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E94560"/>
              </a:solidFill>
            </a:endParaRP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/>
      <p:sp>
        <p:nvSpPr>
          <p:cNvPr id="100129" name="Header"/>
          <p:cNvSpPr txBox="1"/>
          <p:nvPr/>
        </p:nvSpPr>
        <p:spPr>
          <a:xfrm xmlns:a="http://schemas.openxmlformats.org/drawingml/2006/main">
            <a:off x="0" y="0"/>
            <a:ext cx="121932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30" name="SlideTitle"/>
          <p:cNvSpPr txBox="1"/>
          <p:nvPr/>
        </p:nvSpPr>
        <p:spPr>
          <a:xfrm xmlns:a="http://schemas.openxmlformats.org/drawingml/2006/main">
            <a:off x="540000" y="72000"/>
            <a:ext cx="1008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07  Monthly Revenue Trends</a:t>
            </a:r>
          </a:p>
        </p:txBody>
      </p:sp>
      <p:sp>
        <p:nvSpPr>
          <p:cNvPr id="100131" name="SlideNum"/>
          <p:cNvSpPr txBox="1"/>
          <p:nvPr/>
        </p:nvSpPr>
        <p:spPr>
          <a:xfrm xmlns:a="http://schemas.openxmlformats.org/drawingml/2006/main">
            <a:off x="11160000" y="72000"/>
            <a:ext cx="72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E94560"/>
                </a:solidFill>
                <a:latin typeface="Calibri"/>
                <a:ea typeface="Calibri"/>
              </a:rPr>
              <a:t>9</a:t>
            </a:r>
          </a:p>
        </p:txBody>
      </p:sp>
      <p:sp>
        <p:nvSpPr>
          <p:cNvPr id="100132" name="MonthTitle"/>
          <p:cNvSpPr txBox="1"/>
          <p:nvPr/>
        </p:nvSpPr>
        <p:spPr>
          <a:xfrm xmlns:a="http://schemas.openxmlformats.org/drawingml/2006/main">
            <a:off x="540000" y="720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A1A2E"/>
                </a:solidFill>
                <a:latin typeface="Calibri"/>
                <a:ea typeface="Calibri"/>
              </a:rPr>
              <a:t>Monthly Revenue &amp; Transactions (Jan – Jul 2026)</a:t>
            </a:r>
          </a:p>
        </p:txBody>
      </p:sp>
      <p:sp>
        <p:nvSpPr>
          <p:cNvPr id="100133" name="MHdr"/>
          <p:cNvSpPr txBox="1"/>
          <p:nvPr/>
        </p:nvSpPr>
        <p:spPr>
          <a:xfrm xmlns:a="http://schemas.openxmlformats.org/drawingml/2006/main">
            <a:off x="540000" y="1044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Month              Revenue (Rs)   Transactions   Trend</a:t>
            </a:r>
          </a:p>
        </p:txBody>
      </p:sp>
      <p:sp>
        <p:nvSpPr>
          <p:cNvPr id="100134" name="M1"/>
          <p:cNvSpPr txBox="1"/>
          <p:nvPr/>
        </p:nvSpPr>
        <p:spPr>
          <a:xfrm xmlns:a="http://schemas.openxmlformats.org/drawingml/2006/main">
            <a:off x="540000" y="1332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1A2E"/>
                </a:solidFill>
                <a:latin typeface="Calibri"/>
                <a:ea typeface="Calibri"/>
              </a:rPr>
              <a:t>Jan 2026           43,416            88            ===========================</a:t>
            </a:r>
          </a:p>
        </p:txBody>
      </p:sp>
      <p:sp>
        <p:nvSpPr>
          <p:cNvPr id="100135" name="M2"/>
          <p:cNvSpPr txBox="1"/>
          <p:nvPr/>
        </p:nvSpPr>
        <p:spPr>
          <a:xfrm xmlns:a="http://schemas.openxmlformats.org/drawingml/2006/main">
            <a:off x="540000" y="1620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1A2E"/>
                </a:solidFill>
                <a:latin typeface="Calibri"/>
                <a:ea typeface="Calibri"/>
              </a:rPr>
              <a:t>Feb 2026           30,068            65            ===================</a:t>
            </a:r>
          </a:p>
        </p:txBody>
      </p:sp>
      <p:sp>
        <p:nvSpPr>
          <p:cNvPr id="100136" name="M3"/>
          <p:cNvSpPr txBox="1"/>
          <p:nvPr/>
        </p:nvSpPr>
        <p:spPr>
          <a:xfrm xmlns:a="http://schemas.openxmlformats.org/drawingml/2006/main">
            <a:off x="540000" y="1908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1A2E"/>
                </a:solidFill>
                <a:latin typeface="Calibri"/>
                <a:ea typeface="Calibri"/>
              </a:rPr>
              <a:t>Mar 2026           37,306            83            =======================</a:t>
            </a:r>
          </a:p>
        </p:txBody>
      </p:sp>
      <p:sp>
        <p:nvSpPr>
          <p:cNvPr id="100137" name="M4"/>
          <p:cNvSpPr txBox="1"/>
          <p:nvPr/>
        </p:nvSpPr>
        <p:spPr>
          <a:xfrm xmlns:a="http://schemas.openxmlformats.org/drawingml/2006/main">
            <a:off x="540000" y="2196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  <a:latin typeface="Calibri"/>
                <a:ea typeface="Calibri"/>
              </a:rPr>
              <a:t>Apr 2026           52,570            90    PEAK    =================================</a:t>
            </a:r>
          </a:p>
        </p:txBody>
      </p:sp>
      <p:sp>
        <p:nvSpPr>
          <p:cNvPr id="100138" name="M5"/>
          <p:cNvSpPr txBox="1"/>
          <p:nvPr/>
        </p:nvSpPr>
        <p:spPr>
          <a:xfrm xmlns:a="http://schemas.openxmlformats.org/drawingml/2006/main">
            <a:off x="540000" y="2484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1A2E"/>
                </a:solidFill>
                <a:latin typeface="Calibri"/>
                <a:ea typeface="Calibri"/>
              </a:rPr>
              <a:t>May 2026           42,542            85            ==========================</a:t>
            </a:r>
          </a:p>
        </p:txBody>
      </p:sp>
      <p:sp>
        <p:nvSpPr>
          <p:cNvPr id="100139" name="M6"/>
          <p:cNvSpPr txBox="1"/>
          <p:nvPr/>
        </p:nvSpPr>
        <p:spPr>
          <a:xfrm xmlns:a="http://schemas.openxmlformats.org/drawingml/2006/main">
            <a:off x="540000" y="2772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1A2E"/>
                </a:solidFill>
                <a:latin typeface="Calibri"/>
                <a:ea typeface="Calibri"/>
              </a:rPr>
              <a:t>Jun 2026           35,041            82            ======================</a:t>
            </a:r>
          </a:p>
        </p:txBody>
      </p:sp>
      <p:sp>
        <p:nvSpPr>
          <p:cNvPr id="100140" name="M7"/>
          <p:cNvSpPr txBox="1"/>
          <p:nvPr/>
        </p:nvSpPr>
        <p:spPr>
          <a:xfrm xmlns:a="http://schemas.openxmlformats.org/drawingml/2006/main">
            <a:off x="540000" y="3060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  <a:latin typeface="Calibri"/>
                <a:ea typeface="Calibri"/>
              </a:rPr>
              <a:t>Jul 2026            3,467             7    PARTIAL  ==</a:t>
            </a:r>
          </a:p>
        </p:txBody>
      </p:sp>
      <p:sp>
        <p:nvSpPr>
          <p:cNvPr id="100141" name="DowTitle"/>
          <p:cNvSpPr txBox="1"/>
          <p:nvPr/>
        </p:nvSpPr>
        <p:spPr>
          <a:xfrm xmlns:a="http://schemas.openxmlformats.org/drawingml/2006/main">
            <a:off x="540000" y="3492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A1A2E"/>
                </a:solidFill>
                <a:latin typeface="Calibri"/>
                <a:ea typeface="Calibri"/>
              </a:rPr>
              <a:t>Sales by Day of Week</a:t>
            </a:r>
          </a:p>
        </p:txBody>
      </p:sp>
      <p:sp>
        <p:nvSpPr>
          <p:cNvPr id="100142" name="DowBars"/>
          <p:cNvSpPr txBox="1"/>
          <p:nvPr/>
        </p:nvSpPr>
        <p:spPr>
          <a:xfrm xmlns:a="http://schemas.openxmlformats.org/drawingml/2006/main">
            <a:off x="540000" y="3816000"/>
            <a:ext cx="10800000" cy="16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1A2E"/>
                </a:solidFill>
                <a:latin typeface="Calibri"/>
                <a:ea typeface="Calibri"/>
              </a:rPr>
              <a:t>Mon  Rs 42,602  ===========================   77 Txn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  <a:latin typeface="Calibri"/>
                <a:ea typeface="Calibri"/>
              </a:rPr>
              <a:t>Tue  Rs 36,293  ======================       75 Txn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  <a:latin typeface="Calibri"/>
                <a:ea typeface="Calibri"/>
              </a:rPr>
              <a:t>Sun  Rs 36,720  ======================       61 Txn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  <a:latin typeface="Calibri"/>
                <a:ea typeface="Calibri"/>
              </a:rPr>
              <a:t>Fri  Rs 33,026  ====================         69 Txn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  <a:latin typeface="Calibri"/>
                <a:ea typeface="Calibri"/>
              </a:rPr>
              <a:t>Sat  Rs 32,829  ====================         75 Txn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  <a:latin typeface="Calibri"/>
                <a:ea typeface="Calibri"/>
              </a:rPr>
              <a:t>Wed  Rs 34,364  =====================        74 Txn</a:t>
            </a:r>
          </a:p>
          <a:p xmlns:a="http://schemas.openxmlformats.org/drawingml/2006/main">
            <a:r>
              <a:rPr lang="en-US" sz="1300">
                <a:solidFill>
                  <a:srgbClr val="1A1A2E"/>
                </a:solidFill>
                <a:latin typeface="Calibri"/>
                <a:ea typeface="Calibri"/>
              </a:rPr>
              <a:t>Thu  Rs 28,576  =================            69 Txn</a:t>
            </a:r>
          </a:p>
        </p:txBody>
      </p:sp>
      <p:sp>
        <p:nvSpPr>
          <p:cNvPr id="100143" name="DowInsight"/>
          <p:cNvSpPr txBox="1"/>
          <p:nvPr/>
        </p:nvSpPr>
        <p:spPr>
          <a:xfrm xmlns:a="http://schemas.openxmlformats.org/drawingml/2006/main">
            <a:off x="540000" y="5508000"/>
            <a:ext cx="108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33333"/>
                </a:solidFill>
                <a:latin typeface="Calibri"/>
                <a:ea typeface="Calibri"/>
              </a:rPr>
              <a:t>Monday is peak day (Rs 42,602 | 77 transactions). Thursday is weakest — plan promotions midweek.</a:t>
            </a:r>
          </a:p>
        </p:txBody>
      </p:sp>
      <p:sp>
        <p:nvSpPr>
          <p:cNvPr id="100144" name="AccentLine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E94560"/>
              </a:solidFill>
            </a:endParaRP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/>
      <p:sp>
        <p:nvSpPr>
          <p:cNvPr id="100145" name="Header"/>
          <p:cNvSpPr txBox="1"/>
          <p:nvPr/>
        </p:nvSpPr>
        <p:spPr>
          <a:xfrm xmlns:a="http://schemas.openxmlformats.org/drawingml/2006/main">
            <a:off x="0" y="0"/>
            <a:ext cx="121932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46" name="SlideTitle"/>
          <p:cNvSpPr txBox="1"/>
          <p:nvPr/>
        </p:nvSpPr>
        <p:spPr>
          <a:xfrm xmlns:a="http://schemas.openxmlformats.org/drawingml/2006/main">
            <a:off x="540000" y="72000"/>
            <a:ext cx="1008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08  Payment Method &amp; Customer Analysis</a:t>
            </a:r>
          </a:p>
        </p:txBody>
      </p:sp>
      <p:sp>
        <p:nvSpPr>
          <p:cNvPr id="100147" name="SlideNum"/>
          <p:cNvSpPr txBox="1"/>
          <p:nvPr/>
        </p:nvSpPr>
        <p:spPr>
          <a:xfrm xmlns:a="http://schemas.openxmlformats.org/drawingml/2006/main">
            <a:off x="11160000" y="72000"/>
            <a:ext cx="72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E94560"/>
                </a:solidFill>
                <a:latin typeface="Calibri"/>
                <a:ea typeface="Calibri"/>
              </a:rPr>
              <a:t>10</a:t>
            </a:r>
          </a:p>
        </p:txBody>
      </p:sp>
      <p:sp>
        <p:nvSpPr>
          <p:cNvPr id="100148" name="PayTitle"/>
          <p:cNvSpPr txBox="1"/>
          <p:nvPr/>
        </p:nvSpPr>
        <p:spPr>
          <a:xfrm xmlns:a="http://schemas.openxmlformats.org/drawingml/2006/main">
            <a:off x="540000" y="720000"/>
            <a:ext cx="522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A1A2E"/>
                </a:solidFill>
                <a:latin typeface="Calibri"/>
                <a:ea typeface="Calibri"/>
              </a:rPr>
              <a:t>Payment Method Breakdown</a:t>
            </a:r>
          </a:p>
        </p:txBody>
      </p:sp>
      <p:sp>
        <p:nvSpPr>
          <p:cNvPr id="100149" name="PHdr"/>
          <p:cNvSpPr txBox="1"/>
          <p:nvPr/>
        </p:nvSpPr>
        <p:spPr>
          <a:xfrm xmlns:a="http://schemas.openxmlformats.org/drawingml/2006/main">
            <a:off x="540000" y="1044000"/>
            <a:ext cx="522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Method         Revenue (Rs)   Txn   Share</a:t>
            </a:r>
          </a:p>
        </p:txBody>
      </p:sp>
      <p:sp>
        <p:nvSpPr>
          <p:cNvPr id="100150" name="P1"/>
          <p:cNvSpPr txBox="1"/>
          <p:nvPr/>
        </p:nvSpPr>
        <p:spPr>
          <a:xfrm xmlns:a="http://schemas.openxmlformats.org/drawingml/2006/main">
            <a:off x="540000" y="1332000"/>
            <a:ext cx="522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  <a:latin typeface="Calibri"/>
                <a:ea typeface="Calibri"/>
              </a:rPr>
              <a:t>UPI            67,910          127    25.4%</a:t>
            </a:r>
          </a:p>
        </p:txBody>
      </p:sp>
      <p:sp>
        <p:nvSpPr>
          <p:cNvPr id="100151" name="P2"/>
          <p:cNvSpPr txBox="1"/>
          <p:nvPr/>
        </p:nvSpPr>
        <p:spPr>
          <a:xfrm xmlns:a="http://schemas.openxmlformats.org/drawingml/2006/main">
            <a:off x="540000" y="1620000"/>
            <a:ext cx="522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1A2E"/>
                </a:solidFill>
                <a:latin typeface="Calibri"/>
                <a:ea typeface="Calibri"/>
              </a:rPr>
              <a:t>Net Banking    65,195          126    25.2%</a:t>
            </a:r>
          </a:p>
        </p:txBody>
      </p:sp>
      <p:sp>
        <p:nvSpPr>
          <p:cNvPr id="100152" name="P3"/>
          <p:cNvSpPr txBox="1"/>
          <p:nvPr/>
        </p:nvSpPr>
        <p:spPr>
          <a:xfrm xmlns:a="http://schemas.openxmlformats.org/drawingml/2006/main">
            <a:off x="540000" y="1908000"/>
            <a:ext cx="522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1A2E"/>
                </a:solidFill>
                <a:latin typeface="Calibri"/>
                <a:ea typeface="Calibri"/>
              </a:rPr>
              <a:t>Card           57,266          125    25.0%</a:t>
            </a:r>
          </a:p>
        </p:txBody>
      </p:sp>
      <p:sp>
        <p:nvSpPr>
          <p:cNvPr id="100153" name="P4"/>
          <p:cNvSpPr txBox="1"/>
          <p:nvPr/>
        </p:nvSpPr>
        <p:spPr>
          <a:xfrm xmlns:a="http://schemas.openxmlformats.org/drawingml/2006/main">
            <a:off x="540000" y="2196000"/>
            <a:ext cx="522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1A2E"/>
                </a:solidFill>
                <a:latin typeface="Calibri"/>
                <a:ea typeface="Calibri"/>
              </a:rPr>
              <a:t>Cash           54,040          122    24.4%</a:t>
            </a:r>
          </a:p>
        </p:txBody>
      </p:sp>
      <p:sp>
        <p:nvSpPr>
          <p:cNvPr id="100154" name="PInsight"/>
          <p:cNvSpPr txBox="1"/>
          <p:nvPr/>
        </p:nvSpPr>
        <p:spPr>
          <a:xfrm xmlns:a="http://schemas.openxmlformats.org/drawingml/2006/main">
            <a:off x="540000" y="2520000"/>
            <a:ext cx="52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333333"/>
                </a:solidFill>
                <a:latin typeface="Calibri"/>
                <a:ea typeface="Calibri"/>
              </a:rPr>
              <a:t>Nearly equal split across all 4 payment modes — strong digital adoption (UPI + Net Banking = 50.6%)</a:t>
            </a:r>
          </a:p>
        </p:txBody>
      </p:sp>
      <p:sp>
        <p:nvSpPr>
          <p:cNvPr id="100155" name="CustTitle"/>
          <p:cNvSpPr txBox="1"/>
          <p:nvPr/>
        </p:nvSpPr>
        <p:spPr>
          <a:xfrm xmlns:a="http://schemas.openxmlformats.org/drawingml/2006/main">
            <a:off x="6300000" y="720000"/>
            <a:ext cx="54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A1A2E"/>
                </a:solidFill>
                <a:latin typeface="Calibri"/>
                <a:ea typeface="Calibri"/>
              </a:rPr>
              <a:t>Customer Type vs Gender</a:t>
            </a:r>
          </a:p>
        </p:txBody>
      </p:sp>
      <p:sp>
        <p:nvSpPr>
          <p:cNvPr id="100156" name="CT1Val"/>
          <p:cNvSpPr txBox="1"/>
          <p:nvPr/>
        </p:nvSpPr>
        <p:spPr>
          <a:xfrm xmlns:a="http://schemas.openxmlformats.org/drawingml/2006/main">
            <a:off x="6300000" y="1080000"/>
            <a:ext cx="25200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Rs 1,43,009</a:t>
            </a:r>
          </a:p>
        </p:txBody>
      </p:sp>
      <p:sp>
        <p:nvSpPr>
          <p:cNvPr id="100157" name="CT1L"/>
          <p:cNvSpPr txBox="1"/>
          <p:nvPr/>
        </p:nvSpPr>
        <p:spPr>
          <a:xfrm xmlns:a="http://schemas.openxmlformats.org/drawingml/2006/main">
            <a:off x="6300000" y="1692000"/>
            <a:ext cx="252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555555"/>
                </a:solidFill>
                <a:latin typeface="Calibri"/>
                <a:ea typeface="Calibri"/>
              </a:rPr>
              <a:t>Member (296 orders)</a:t>
            </a:r>
          </a:p>
        </p:txBody>
      </p:sp>
      <p:sp>
        <p:nvSpPr>
          <p:cNvPr id="100158" name="CT2Val"/>
          <p:cNvSpPr txBox="1"/>
          <p:nvPr/>
        </p:nvSpPr>
        <p:spPr>
          <a:xfrm xmlns:a="http://schemas.openxmlformats.org/drawingml/2006/main">
            <a:off x="9180000" y="1080000"/>
            <a:ext cx="25200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Rs 1,01,402</a:t>
            </a:r>
          </a:p>
        </p:txBody>
      </p:sp>
      <p:sp>
        <p:nvSpPr>
          <p:cNvPr id="100159" name="CT2L"/>
          <p:cNvSpPr txBox="1"/>
          <p:nvPr/>
        </p:nvSpPr>
        <p:spPr>
          <a:xfrm xmlns:a="http://schemas.openxmlformats.org/drawingml/2006/main">
            <a:off x="9180000" y="1692000"/>
            <a:ext cx="252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555555"/>
                </a:solidFill>
                <a:latin typeface="Calibri"/>
                <a:ea typeface="Calibri"/>
              </a:rPr>
              <a:t>Normal (204 orders)</a:t>
            </a:r>
          </a:p>
        </p:txBody>
      </p:sp>
      <p:sp>
        <p:nvSpPr>
          <p:cNvPr id="100160" name="Gen1Val"/>
          <p:cNvSpPr txBox="1"/>
          <p:nvPr/>
        </p:nvSpPr>
        <p:spPr>
          <a:xfrm xmlns:a="http://schemas.openxmlformats.org/drawingml/2006/main">
            <a:off x="6300000" y="2160000"/>
            <a:ext cx="25200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Rs 1,23,954</a:t>
            </a:r>
          </a:p>
        </p:txBody>
      </p:sp>
      <p:sp>
        <p:nvSpPr>
          <p:cNvPr id="100161" name="Gen1L"/>
          <p:cNvSpPr txBox="1"/>
          <p:nvPr/>
        </p:nvSpPr>
        <p:spPr>
          <a:xfrm xmlns:a="http://schemas.openxmlformats.org/drawingml/2006/main">
            <a:off x="6300000" y="2772000"/>
            <a:ext cx="252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555555"/>
                </a:solidFill>
                <a:latin typeface="Calibri"/>
                <a:ea typeface="Calibri"/>
              </a:rPr>
              <a:t>Female (255 orders)</a:t>
            </a:r>
          </a:p>
        </p:txBody>
      </p:sp>
      <p:sp>
        <p:nvSpPr>
          <p:cNvPr id="100162" name="Gen2Val"/>
          <p:cNvSpPr txBox="1"/>
          <p:nvPr/>
        </p:nvSpPr>
        <p:spPr>
          <a:xfrm xmlns:a="http://schemas.openxmlformats.org/drawingml/2006/main">
            <a:off x="9180000" y="2160000"/>
            <a:ext cx="25200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Rs 1,20,457</a:t>
            </a:r>
          </a:p>
        </p:txBody>
      </p:sp>
      <p:sp>
        <p:nvSpPr>
          <p:cNvPr id="100163" name="Gen2L"/>
          <p:cNvSpPr txBox="1"/>
          <p:nvPr/>
        </p:nvSpPr>
        <p:spPr>
          <a:xfrm xmlns:a="http://schemas.openxmlformats.org/drawingml/2006/main">
            <a:off x="9180000" y="2772000"/>
            <a:ext cx="252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555555"/>
                </a:solidFill>
                <a:latin typeface="Calibri"/>
                <a:ea typeface="Calibri"/>
              </a:rPr>
              <a:t>Male (245 orders)</a:t>
            </a:r>
          </a:p>
        </p:txBody>
      </p:sp>
      <p:sp>
        <p:nvSpPr>
          <p:cNvPr id="100164" name="CustInsight"/>
          <p:cNvSpPr txBox="1"/>
          <p:nvPr/>
        </p:nvSpPr>
        <p:spPr>
          <a:xfrm xmlns:a="http://schemas.openxmlformats.org/drawingml/2006/main">
            <a:off x="6300000" y="3240000"/>
            <a:ext cx="540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333333"/>
                </a:solidFill>
                <a:latin typeface="Calibri"/>
                <a:ea typeface="Calibri"/>
              </a:rPr>
              <a:t>Members generate 41% more revenue than Normal customers. Female customers lead slightly (Rs 3,497 difference). Invest in membership conversion programs.</a:t>
            </a:r>
          </a:p>
        </p:txBody>
      </p:sp>
      <p:sp>
        <p:nvSpPr>
          <p:cNvPr id="100165" name="AccentLine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E94560"/>
              </a:solidFill>
            </a:endParaRPr>
          </a:p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/>
      <p:sp>
        <p:nvSpPr>
          <p:cNvPr id="100166" name="Header"/>
          <p:cNvSpPr txBox="1"/>
          <p:nvPr/>
        </p:nvSpPr>
        <p:spPr>
          <a:xfrm xmlns:a="http://schemas.openxmlformats.org/drawingml/2006/main">
            <a:off x="0" y="0"/>
            <a:ext cx="121932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67" name="SlideTitle"/>
          <p:cNvSpPr txBox="1"/>
          <p:nvPr/>
        </p:nvSpPr>
        <p:spPr>
          <a:xfrm xmlns:a="http://schemas.openxmlformats.org/drawingml/2006/main">
            <a:off x="540000" y="72000"/>
            <a:ext cx="1008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09  Product &amp; Rating Analysis</a:t>
            </a:r>
          </a:p>
        </p:txBody>
      </p:sp>
      <p:sp>
        <p:nvSpPr>
          <p:cNvPr id="100168" name="SlideNum"/>
          <p:cNvSpPr txBox="1"/>
          <p:nvPr/>
        </p:nvSpPr>
        <p:spPr>
          <a:xfrm xmlns:a="http://schemas.openxmlformats.org/drawingml/2006/main">
            <a:off x="11160000" y="72000"/>
            <a:ext cx="72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E94560"/>
                </a:solidFill>
                <a:latin typeface="Calibri"/>
                <a:ea typeface="Calibri"/>
              </a:rPr>
              <a:t>11</a:t>
            </a:r>
          </a:p>
        </p:txBody>
      </p:sp>
      <p:sp>
        <p:nvSpPr>
          <p:cNvPr id="100169" name="ProdTitle"/>
          <p:cNvSpPr txBox="1"/>
          <p:nvPr/>
        </p:nvSpPr>
        <p:spPr>
          <a:xfrm xmlns:a="http://schemas.openxmlformats.org/drawingml/2006/main">
            <a:off x="540000" y="720000"/>
            <a:ext cx="54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A1A2E"/>
                </a:solidFill>
                <a:latin typeface="Calibri"/>
                <a:ea typeface="Calibri"/>
              </a:rPr>
              <a:t>Top 5 Products by Revenue</a:t>
            </a:r>
          </a:p>
        </p:txBody>
      </p:sp>
      <p:sp>
        <p:nvSpPr>
          <p:cNvPr id="100170" name="Prod1"/>
          <p:cNvSpPr txBox="1"/>
          <p:nvPr/>
        </p:nvSpPr>
        <p:spPr>
          <a:xfrm xmlns:a="http://schemas.openxmlformats.org/drawingml/2006/main">
            <a:off x="540000" y="1080000"/>
            <a:ext cx="54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FFFFFF"/>
                </a:solidFill>
                <a:latin typeface="Calibri"/>
                <a:ea typeface="Calibri"/>
              </a:rPr>
              <a:t>1  Cheese (Dairy)         Rs 27,906</a:t>
            </a:r>
          </a:p>
        </p:txBody>
      </p:sp>
      <p:sp>
        <p:nvSpPr>
          <p:cNvPr id="100171" name="Prod2"/>
          <p:cNvSpPr txBox="1"/>
          <p:nvPr/>
        </p:nvSpPr>
        <p:spPr>
          <a:xfrm xmlns:a="http://schemas.openxmlformats.org/drawingml/2006/main">
            <a:off x="540000" y="1440000"/>
            <a:ext cx="54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FFFFFF"/>
                </a:solidFill>
                <a:latin typeface="Calibri"/>
                <a:ea typeface="Calibri"/>
              </a:rPr>
              <a:t>2  Coffee (Beverages)     Rs 27,695</a:t>
            </a:r>
          </a:p>
        </p:txBody>
      </p:sp>
      <p:sp>
        <p:nvSpPr>
          <p:cNvPr id="100172" name="Prod3"/>
          <p:cNvSpPr txBox="1"/>
          <p:nvPr/>
        </p:nvSpPr>
        <p:spPr>
          <a:xfrm xmlns:a="http://schemas.openxmlformats.org/drawingml/2006/main">
            <a:off x="540000" y="1800000"/>
            <a:ext cx="54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FFFFFF"/>
                </a:solidFill>
                <a:latin typeface="Calibri"/>
                <a:ea typeface="Calibri"/>
              </a:rPr>
              <a:t>3  Shampoo (Personal Care)  Rs 27,497</a:t>
            </a:r>
          </a:p>
        </p:txBody>
      </p:sp>
      <p:sp>
        <p:nvSpPr>
          <p:cNvPr id="100173" name="Prod4"/>
          <p:cNvSpPr txBox="1"/>
          <p:nvPr/>
        </p:nvSpPr>
        <p:spPr>
          <a:xfrm xmlns:a="http://schemas.openxmlformats.org/drawingml/2006/main">
            <a:off x="540000" y="2160000"/>
            <a:ext cx="54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FFFFFF"/>
                </a:solidFill>
                <a:latin typeface="Calibri"/>
                <a:ea typeface="Calibri"/>
              </a:rPr>
              <a:t>4  Cooking Oil (Grocery)  Rs 21,525</a:t>
            </a:r>
          </a:p>
        </p:txBody>
      </p:sp>
      <p:sp>
        <p:nvSpPr>
          <p:cNvPr id="100174" name="Prod5"/>
          <p:cNvSpPr txBox="1"/>
          <p:nvPr/>
        </p:nvSpPr>
        <p:spPr>
          <a:xfrm xmlns:a="http://schemas.openxmlformats.org/drawingml/2006/main">
            <a:off x="540000" y="2520000"/>
            <a:ext cx="54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FFFFFF"/>
                </a:solidFill>
                <a:latin typeface="Calibri"/>
                <a:ea typeface="Calibri"/>
              </a:rPr>
              <a:t>5  Tea (Beverages)        Rs 17,682</a:t>
            </a:r>
          </a:p>
        </p:txBody>
      </p:sp>
      <p:sp>
        <p:nvSpPr>
          <p:cNvPr id="100175" name="RatTitle"/>
          <p:cNvSpPr txBox="1"/>
          <p:nvPr/>
        </p:nvSpPr>
        <p:spPr>
          <a:xfrm xmlns:a="http://schemas.openxmlformats.org/drawingml/2006/main">
            <a:off x="6480000" y="720000"/>
            <a:ext cx="54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A1A2E"/>
                </a:solidFill>
                <a:latin typeface="Calibri"/>
                <a:ea typeface="Calibri"/>
              </a:rPr>
              <a:t>Avg Rating by Category (out of 5.0)</a:t>
            </a:r>
          </a:p>
        </p:txBody>
      </p:sp>
      <p:sp>
        <p:nvSpPr>
          <p:cNvPr id="100176" name="R1"/>
          <p:cNvSpPr txBox="1"/>
          <p:nvPr/>
        </p:nvSpPr>
        <p:spPr>
          <a:xfrm xmlns:a="http://schemas.openxmlformats.org/drawingml/2006/main">
            <a:off x="6480000" y="1080000"/>
            <a:ext cx="54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  <a:latin typeface="Calibri"/>
                <a:ea typeface="Calibri"/>
              </a:rPr>
              <a:t>Bakery            4.24  =============================</a:t>
            </a:r>
          </a:p>
        </p:txBody>
      </p:sp>
      <p:sp>
        <p:nvSpPr>
          <p:cNvPr id="100177" name="R2"/>
          <p:cNvSpPr txBox="1"/>
          <p:nvPr/>
        </p:nvSpPr>
        <p:spPr>
          <a:xfrm xmlns:a="http://schemas.openxmlformats.org/drawingml/2006/main">
            <a:off x="6480000" y="1368000"/>
            <a:ext cx="54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  <a:latin typeface="Calibri"/>
                <a:ea typeface="Calibri"/>
              </a:rPr>
              <a:t>Snacks            4.11  ===========================</a:t>
            </a:r>
          </a:p>
        </p:txBody>
      </p:sp>
      <p:sp>
        <p:nvSpPr>
          <p:cNvPr id="100178" name="R3"/>
          <p:cNvSpPr txBox="1"/>
          <p:nvPr/>
        </p:nvSpPr>
        <p:spPr>
          <a:xfrm xmlns:a="http://schemas.openxmlformats.org/drawingml/2006/main">
            <a:off x="6480000" y="1656000"/>
            <a:ext cx="54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1A2E"/>
                </a:solidFill>
                <a:latin typeface="Calibri"/>
                <a:ea typeface="Calibri"/>
              </a:rPr>
              <a:t>Dairy             4.03  ==========================</a:t>
            </a:r>
          </a:p>
        </p:txBody>
      </p:sp>
      <p:sp>
        <p:nvSpPr>
          <p:cNvPr id="100179" name="R4"/>
          <p:cNvSpPr txBox="1"/>
          <p:nvPr/>
        </p:nvSpPr>
        <p:spPr>
          <a:xfrm xmlns:a="http://schemas.openxmlformats.org/drawingml/2006/main">
            <a:off x="6480000" y="1944000"/>
            <a:ext cx="54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1A2E"/>
                </a:solidFill>
                <a:latin typeface="Calibri"/>
                <a:ea typeface="Calibri"/>
              </a:rPr>
              <a:t>Vegetables        3.99  =========================</a:t>
            </a:r>
          </a:p>
        </p:txBody>
      </p:sp>
      <p:sp>
        <p:nvSpPr>
          <p:cNvPr id="100180" name="R5"/>
          <p:cNvSpPr txBox="1"/>
          <p:nvPr/>
        </p:nvSpPr>
        <p:spPr>
          <a:xfrm xmlns:a="http://schemas.openxmlformats.org/drawingml/2006/main">
            <a:off x="6480000" y="2232000"/>
            <a:ext cx="54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1A2E"/>
                </a:solidFill>
                <a:latin typeface="Calibri"/>
                <a:ea typeface="Calibri"/>
              </a:rPr>
              <a:t>Beverages         3.96  =========================</a:t>
            </a:r>
          </a:p>
        </p:txBody>
      </p:sp>
      <p:sp>
        <p:nvSpPr>
          <p:cNvPr id="100181" name="R6"/>
          <p:cNvSpPr txBox="1"/>
          <p:nvPr/>
        </p:nvSpPr>
        <p:spPr>
          <a:xfrm xmlns:a="http://schemas.openxmlformats.org/drawingml/2006/main">
            <a:off x="6480000" y="2520000"/>
            <a:ext cx="54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1A2E"/>
                </a:solidFill>
                <a:latin typeface="Calibri"/>
                <a:ea typeface="Calibri"/>
              </a:rPr>
              <a:t>Personal Care     3.95  ========================</a:t>
            </a:r>
          </a:p>
        </p:txBody>
      </p:sp>
      <p:sp>
        <p:nvSpPr>
          <p:cNvPr id="100182" name="R7"/>
          <p:cNvSpPr txBox="1"/>
          <p:nvPr/>
        </p:nvSpPr>
        <p:spPr>
          <a:xfrm xmlns:a="http://schemas.openxmlformats.org/drawingml/2006/main">
            <a:off x="6480000" y="2808000"/>
            <a:ext cx="54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1A2E"/>
                </a:solidFill>
                <a:latin typeface="Calibri"/>
                <a:ea typeface="Calibri"/>
              </a:rPr>
              <a:t>Grocery           3.94  ========================</a:t>
            </a:r>
          </a:p>
        </p:txBody>
      </p:sp>
      <p:sp>
        <p:nvSpPr>
          <p:cNvPr id="100183" name="R8"/>
          <p:cNvSpPr txBox="1"/>
          <p:nvPr/>
        </p:nvSpPr>
        <p:spPr>
          <a:xfrm xmlns:a="http://schemas.openxmlformats.org/drawingml/2006/main">
            <a:off x="6480000" y="3096000"/>
            <a:ext cx="54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  <a:latin typeface="Calibri"/>
                <a:ea typeface="Calibri"/>
              </a:rPr>
              <a:t>Fruits            3.83  ========================</a:t>
            </a:r>
          </a:p>
        </p:txBody>
      </p:sp>
      <p:sp>
        <p:nvSpPr>
          <p:cNvPr id="100184" name="OverallRat"/>
          <p:cNvSpPr txBox="1"/>
          <p:nvPr/>
        </p:nvSpPr>
        <p:spPr>
          <a:xfrm xmlns:a="http://schemas.openxmlformats.org/drawingml/2006/main">
            <a:off x="6480000" y="3456000"/>
            <a:ext cx="54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Overall Avg Rating: 3.99 / 5.0</a:t>
            </a:r>
          </a:p>
        </p:txBody>
      </p:sp>
      <p:sp>
        <p:nvSpPr>
          <p:cNvPr id="100185" name="ProdInsight"/>
          <p:cNvSpPr txBox="1"/>
          <p:nvPr/>
        </p:nvSpPr>
        <p:spPr>
          <a:xfrm xmlns:a="http://schemas.openxmlformats.org/drawingml/2006/main">
            <a:off x="540000" y="3240000"/>
            <a:ext cx="540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1A1A2E"/>
                </a:solidFill>
                <a:latin typeface="Calibri"/>
                <a:ea typeface="Calibri"/>
              </a:rPr>
              <a:t>Revenue Tier Distribution: Low (&lt;200) | Mid (200-500) | High (500-1000) | Premium (&gt;1000)</a:t>
            </a:r>
          </a:p>
        </p:txBody>
      </p:sp>
      <p:sp>
        <p:nvSpPr>
          <p:cNvPr id="100186" name="KeyFindings"/>
          <p:cNvSpPr txBox="1"/>
          <p:nvPr/>
        </p:nvSpPr>
        <p:spPr>
          <a:xfrm xmlns:a="http://schemas.openxmlformats.org/drawingml/2006/main">
            <a:off x="540000" y="3780000"/>
            <a:ext cx="108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33333"/>
                </a:solidFill>
                <a:latin typeface="Calibri"/>
                <a:ea typeface="Calibri"/>
              </a:rPr>
              <a:t>Cheese, Coffee, and Shampoo are near-equal top performers — diversified revenue base</a:t>
            </a:r>
          </a:p>
          <a:p xmlns:a="http://schemas.openxmlformats.org/drawingml/2006/main">
            <a:r>
              <a:rPr lang="en-US" sz="1300">
                <a:solidFill>
                  <a:srgbClr val="333333"/>
                </a:solidFill>
                <a:latin typeface="Calibri"/>
                <a:ea typeface="Calibri"/>
              </a:rPr>
              <a:t>Top 3 products each generate ~Rs 27,500 — highly concentrated in Dairy, Beverages, Personal Care</a:t>
            </a:r>
          </a:p>
          <a:p xmlns:a="http://schemas.openxmlformats.org/drawingml/2006/main">
            <a:r>
              <a:rPr lang="en-US" sz="1300">
                <a:solidFill>
                  <a:srgbClr val="333333"/>
                </a:solidFill>
                <a:latin typeface="Calibri"/>
                <a:ea typeface="Calibri"/>
              </a:rPr>
              <a:t>Fruits have the lowest avg rating (3.83) — investigate freshness and pricing</a:t>
            </a:r>
          </a:p>
          <a:p xmlns:a="http://schemas.openxmlformats.org/drawingml/2006/main">
            <a:r>
              <a:rPr lang="en-US" sz="1300">
                <a:solidFill>
                  <a:srgbClr val="333333"/>
                </a:solidFill>
                <a:latin typeface="Calibri"/>
                <a:ea typeface="Calibri"/>
              </a:rPr>
              <a:t>All category ratings are above 3.8 — overall strong customer satisfaction</a:t>
            </a:r>
          </a:p>
        </p:txBody>
      </p:sp>
      <p:sp>
        <p:nvSpPr>
          <p:cNvPr id="100187" name="AccentLine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E94560"/>
              </a:solidFill>
            </a:endParaRPr>
          </a:p>
        </p:txBody>
      </p:sp>
    </p:spTree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A1A2E"/>
        </a:solidFill>
      </p:bgPr>
    </p:bg>
    <p:spTree>
      <p:nvGrpSpPr>
        <p:cNvPr id="1" name=""/>
        <p:cNvGrpSpPr/>
        <p:nvPr/>
      </p:nvGrpSpPr>
      <p:grpSpPr/>
      <p:sp>
        <p:nvSpPr>
          <p:cNvPr id="100188" name="TopBar"/>
          <p:cNvSpPr txBox="1"/>
          <p:nvPr/>
        </p:nvSpPr>
        <p:spPr>
          <a:xfrm xmlns:a="http://schemas.openxmlformats.org/drawingml/2006/main">
            <a:off x="0" y="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89" name="SlideTitle"/>
          <p:cNvSpPr txBox="1"/>
          <p:nvPr/>
        </p:nvSpPr>
        <p:spPr>
          <a:xfrm xmlns:a="http://schemas.openxmlformats.org/drawingml/2006/main">
            <a:off x="540000" y="432000"/>
            <a:ext cx="100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10  Business Insights &amp; Recommendations</a:t>
            </a:r>
          </a:p>
        </p:txBody>
      </p:sp>
      <p:sp>
        <p:nvSpPr>
          <p:cNvPr id="100190" name="SlideNum"/>
          <p:cNvSpPr txBox="1"/>
          <p:nvPr/>
        </p:nvSpPr>
        <p:spPr>
          <a:xfrm xmlns:a="http://schemas.openxmlformats.org/drawingml/2006/main">
            <a:off x="11160000" y="432000"/>
            <a:ext cx="7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E94560"/>
                </a:solidFill>
                <a:latin typeface="Calibri"/>
                <a:ea typeface="Calibri"/>
              </a:rPr>
              <a:t>12</a:t>
            </a:r>
          </a:p>
        </p:txBody>
      </p:sp>
      <p:sp>
        <p:nvSpPr>
          <p:cNvPr id="100191" name="I1Title"/>
          <p:cNvSpPr txBox="1"/>
          <p:nvPr/>
        </p:nvSpPr>
        <p:spPr>
          <a:xfrm xmlns:a="http://schemas.openxmlformats.org/drawingml/2006/main">
            <a:off x="360000" y="1008000"/>
            <a:ext cx="558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Expand Beverages Product Range</a:t>
            </a:r>
          </a:p>
        </p:txBody>
      </p:sp>
      <p:sp>
        <p:nvSpPr>
          <p:cNvPr id="100192" name="I1Body"/>
          <p:cNvSpPr txBox="1"/>
          <p:nvPr/>
        </p:nvSpPr>
        <p:spPr>
          <a:xfrm xmlns:a="http://schemas.openxmlformats.org/drawingml/2006/main">
            <a:off x="360000" y="1296000"/>
            <a:ext cx="55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A8DADC"/>
                </a:solidFill>
                <a:latin typeface="Calibri"/>
                <a:ea typeface="Calibri"/>
              </a:rPr>
              <a:t>Beverages leads with 23% revenue (Rs 56,108). Introduce 2-3 new premium beverage SKUs and loyalty discounts to deepen its lead.</a:t>
            </a:r>
          </a:p>
        </p:txBody>
      </p:sp>
      <p:sp>
        <p:nvSpPr>
          <p:cNvPr id="100193" name="I2Title"/>
          <p:cNvSpPr txBox="1"/>
          <p:nvPr/>
        </p:nvSpPr>
        <p:spPr>
          <a:xfrm xmlns:a="http://schemas.openxmlformats.org/drawingml/2006/main">
            <a:off x="6300000" y="1008000"/>
            <a:ext cx="558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Market the Bakery Category</a:t>
            </a:r>
          </a:p>
        </p:txBody>
      </p:sp>
      <p:sp>
        <p:nvSpPr>
          <p:cNvPr id="100194" name="I2Body"/>
          <p:cNvSpPr txBox="1"/>
          <p:nvPr/>
        </p:nvSpPr>
        <p:spPr>
          <a:xfrm xmlns:a="http://schemas.openxmlformats.org/drawingml/2006/main">
            <a:off x="6300000" y="1296000"/>
            <a:ext cx="55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A8DADC"/>
                </a:solidFill>
                <a:latin typeface="Calibri"/>
                <a:ea typeface="Calibri"/>
              </a:rPr>
              <a:t>Bakery is the highest-rated (4.24) but only 2.7% revenue. Run targeted promotions, bundle deals, and improve shelf visibility to grow transactions from 28.</a:t>
            </a:r>
          </a:p>
        </p:txBody>
      </p:sp>
      <p:sp>
        <p:nvSpPr>
          <p:cNvPr id="100195" name="I3Title"/>
          <p:cNvSpPr txBox="1"/>
          <p:nvPr/>
        </p:nvSpPr>
        <p:spPr>
          <a:xfrm xmlns:a="http://schemas.openxmlformats.org/drawingml/2006/main">
            <a:off x="360000" y="1944000"/>
            <a:ext cx="558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Replicate Mumbai Best Practices</a:t>
            </a:r>
          </a:p>
        </p:txBody>
      </p:sp>
      <p:sp>
        <p:nvSpPr>
          <p:cNvPr id="100196" name="I3Body"/>
          <p:cNvSpPr txBox="1"/>
          <p:nvPr/>
        </p:nvSpPr>
        <p:spPr>
          <a:xfrm xmlns:a="http://schemas.openxmlformats.org/drawingml/2006/main">
            <a:off x="360000" y="2232000"/>
            <a:ext cx="55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A8DADC"/>
                </a:solidFill>
                <a:latin typeface="Calibri"/>
                <a:ea typeface="Calibri"/>
              </a:rPr>
              <a:t>Mumbai (Branch C) leads with Rs 72,469. Audit stock mix, staffing, and promotions at Mumbai and roll out to Jaipur (Branch A) — Rs 20K gap to close.</a:t>
            </a:r>
          </a:p>
        </p:txBody>
      </p:sp>
      <p:sp>
        <p:nvSpPr>
          <p:cNvPr id="100197" name="I4Title"/>
          <p:cNvSpPr txBox="1"/>
          <p:nvPr/>
        </p:nvSpPr>
        <p:spPr>
          <a:xfrm xmlns:a="http://schemas.openxmlformats.org/drawingml/2006/main">
            <a:off x="6300000" y="1944000"/>
            <a:ext cx="558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Drive UPI / Digital Payment Adoption</a:t>
            </a:r>
          </a:p>
        </p:txBody>
      </p:sp>
      <p:sp>
        <p:nvSpPr>
          <p:cNvPr id="100198" name="I4Body"/>
          <p:cNvSpPr txBox="1"/>
          <p:nvPr/>
        </p:nvSpPr>
        <p:spPr>
          <a:xfrm xmlns:a="http://schemas.openxmlformats.org/drawingml/2006/main">
            <a:off x="6300000" y="2232000"/>
            <a:ext cx="55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A8DADC"/>
                </a:solidFill>
                <a:latin typeface="Calibri"/>
                <a:ea typeface="Calibri"/>
              </a:rPr>
              <a:t>UPI leads at 25.4%. Offer 2% cashback on digital payments to shift cash users (24.4%) online and reduce cash handling costs.</a:t>
            </a:r>
          </a:p>
        </p:txBody>
      </p:sp>
      <p:sp>
        <p:nvSpPr>
          <p:cNvPr id="100199" name="I5Title"/>
          <p:cNvSpPr txBox="1"/>
          <p:nvPr/>
        </p:nvSpPr>
        <p:spPr>
          <a:xfrm xmlns:a="http://schemas.openxmlformats.org/drawingml/2006/main">
            <a:off x="360000" y="2880000"/>
            <a:ext cx="558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Launch Member Conversion Campaign</a:t>
            </a:r>
          </a:p>
        </p:txBody>
      </p:sp>
      <p:sp>
        <p:nvSpPr>
          <p:cNvPr id="100200" name="I5Body"/>
          <p:cNvSpPr txBox="1"/>
          <p:nvPr/>
        </p:nvSpPr>
        <p:spPr>
          <a:xfrm xmlns:a="http://schemas.openxmlformats.org/drawingml/2006/main">
            <a:off x="360000" y="3168000"/>
            <a:ext cx="55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A8DADC"/>
                </a:solidFill>
                <a:latin typeface="Calibri"/>
                <a:ea typeface="Calibri"/>
              </a:rPr>
              <a:t>Members generate Rs 43,607 more than Normal customers. A free first-month membership trial for Normal customers could lift overall basket size.</a:t>
            </a:r>
          </a:p>
        </p:txBody>
      </p:sp>
      <p:sp>
        <p:nvSpPr>
          <p:cNvPr id="100201" name="I6Title"/>
          <p:cNvSpPr txBox="1"/>
          <p:nvPr/>
        </p:nvSpPr>
        <p:spPr>
          <a:xfrm xmlns:a="http://schemas.openxmlformats.org/drawingml/2006/main">
            <a:off x="6300000" y="2880000"/>
            <a:ext cx="558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Monday Flash Sales &amp; Peak Staffing</a:t>
            </a:r>
          </a:p>
        </p:txBody>
      </p:sp>
      <p:sp>
        <p:nvSpPr>
          <p:cNvPr id="100202" name="I6Body"/>
          <p:cNvSpPr txBox="1"/>
          <p:nvPr/>
        </p:nvSpPr>
        <p:spPr>
          <a:xfrm xmlns:a="http://schemas.openxmlformats.org/drawingml/2006/main">
            <a:off x="6300000" y="3168000"/>
            <a:ext cx="55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A8DADC"/>
                </a:solidFill>
                <a:latin typeface="Calibri"/>
                <a:ea typeface="Calibri"/>
              </a:rPr>
              <a:t>Monday drives Rs 42,602 (peak day). Ensure full inventory, maximum staffing, and run flash deals. Thursday is weakest — schedule restock on Wed evening.</a:t>
            </a:r>
          </a:p>
        </p:txBody>
      </p:sp>
      <p:sp>
        <p:nvSpPr>
          <p:cNvPr id="100203" name="I7Title"/>
          <p:cNvSpPr txBox="1"/>
          <p:nvPr/>
        </p:nvSpPr>
        <p:spPr>
          <a:xfrm xmlns:a="http://schemas.openxmlformats.org/drawingml/2006/main">
            <a:off x="360000" y="3816000"/>
            <a:ext cx="558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Investigate Fruits Quality</a:t>
            </a:r>
          </a:p>
        </p:txBody>
      </p:sp>
      <p:sp>
        <p:nvSpPr>
          <p:cNvPr id="100204" name="I7Body"/>
          <p:cNvSpPr txBox="1"/>
          <p:nvPr/>
        </p:nvSpPr>
        <p:spPr>
          <a:xfrm xmlns:a="http://schemas.openxmlformats.org/drawingml/2006/main">
            <a:off x="360000" y="4104000"/>
            <a:ext cx="55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A8DADC"/>
                </a:solidFill>
                <a:latin typeface="Calibri"/>
                <a:ea typeface="Calibri"/>
              </a:rPr>
              <a:t>Fruits has the lowest avg rating (3.83). Run customer surveys, review freshness standards, and adjust supplier SLAs to improve satisfaction.</a:t>
            </a:r>
          </a:p>
        </p:txBody>
      </p:sp>
      <p:sp>
        <p:nvSpPr>
          <p:cNvPr id="100205" name="I8Title"/>
          <p:cNvSpPr txBox="1"/>
          <p:nvPr/>
        </p:nvSpPr>
        <p:spPr>
          <a:xfrm xmlns:a="http://schemas.openxmlformats.org/drawingml/2006/main">
            <a:off x="6300000" y="3816000"/>
            <a:ext cx="558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Bundle Strategy for Premium Orders</a:t>
            </a:r>
          </a:p>
        </p:txBody>
      </p:sp>
      <p:sp>
        <p:nvSpPr>
          <p:cNvPr id="100206" name="I8Body"/>
          <p:cNvSpPr txBox="1"/>
          <p:nvPr/>
        </p:nvSpPr>
        <p:spPr>
          <a:xfrm xmlns:a="http://schemas.openxmlformats.org/drawingml/2006/main">
            <a:off x="6300000" y="4104000"/>
            <a:ext cx="55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A8DADC"/>
                </a:solidFill>
                <a:latin typeface="Calibri"/>
                <a:ea typeface="Calibri"/>
              </a:rPr>
              <a:t>Only 1-2% of orders exceed Rs 1,000. Bundle deals (e.g. Rs 999 family packs) can shift mid-tier buyers into the premium tier and raise avg basket size.</a:t>
            </a:r>
          </a:p>
        </p:txBody>
      </p:sp>
      <p:sp>
        <p:nvSpPr>
          <p:cNvPr id="100207" name="BottomBar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/>
      <p:sp>
        <p:nvSpPr>
          <p:cNvPr id="100208" name="Header"/>
          <p:cNvSpPr txBox="1"/>
          <p:nvPr/>
        </p:nvSpPr>
        <p:spPr>
          <a:xfrm xmlns:a="http://schemas.openxmlformats.org/drawingml/2006/main">
            <a:off x="0" y="0"/>
            <a:ext cx="121932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09" name="SlideTitle"/>
          <p:cNvSpPr txBox="1"/>
          <p:nvPr/>
        </p:nvSpPr>
        <p:spPr>
          <a:xfrm xmlns:a="http://schemas.openxmlformats.org/drawingml/2006/main">
            <a:off x="540000" y="72000"/>
            <a:ext cx="1008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11  Streamlit Dashboard Overview</a:t>
            </a:r>
          </a:p>
        </p:txBody>
      </p:sp>
      <p:sp>
        <p:nvSpPr>
          <p:cNvPr id="100210" name="SlideNum"/>
          <p:cNvSpPr txBox="1"/>
          <p:nvPr/>
        </p:nvSpPr>
        <p:spPr>
          <a:xfrm xmlns:a="http://schemas.openxmlformats.org/drawingml/2006/main">
            <a:off x="11160000" y="72000"/>
            <a:ext cx="72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E94560"/>
                </a:solidFill>
                <a:latin typeface="Calibri"/>
                <a:ea typeface="Calibri"/>
              </a:rPr>
              <a:t>13</a:t>
            </a:r>
          </a:p>
        </p:txBody>
      </p:sp>
      <p:sp>
        <p:nvSpPr>
          <p:cNvPr id="100211" name="DashDesc"/>
          <p:cNvSpPr txBox="1"/>
          <p:nvPr/>
        </p:nvSpPr>
        <p:spPr>
          <a:xfrm xmlns:a="http://schemas.openxmlformats.org/drawingml/2006/main">
            <a:off x="540000" y="720000"/>
            <a:ext cx="1080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An interactive, multi-tab Streamlit web application serving as the complete analytics frontend. Run with: streamlit run app.py</a:t>
            </a:r>
          </a:p>
        </p:txBody>
      </p:sp>
      <p:sp>
        <p:nvSpPr>
          <p:cNvPr id="100212" name="TabHdr"/>
          <p:cNvSpPr txBox="1"/>
          <p:nvPr/>
        </p:nvSpPr>
        <p:spPr>
          <a:xfrm xmlns:a="http://schemas.openxmlformats.org/drawingml/2006/main">
            <a:off x="540000" y="1152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Tab                   Content                                                      Charts</a:t>
            </a:r>
          </a:p>
        </p:txBody>
      </p:sp>
      <p:sp>
        <p:nvSpPr>
          <p:cNvPr id="100213" name="T1"/>
          <p:cNvSpPr txBox="1"/>
          <p:nvPr/>
        </p:nvSpPr>
        <p:spPr>
          <a:xfrm xmlns:a="http://schemas.openxmlformats.org/drawingml/2006/main">
            <a:off x="540000" y="1440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1A2E"/>
                </a:solidFill>
                <a:latin typeface="Calibri"/>
                <a:ea typeface="Calibri"/>
              </a:rPr>
              <a:t>Overview              8 KPI cards, revenue by category, monthly trend              Bar + Pie + Line</a:t>
            </a:r>
          </a:p>
        </p:txBody>
      </p:sp>
      <p:sp>
        <p:nvSpPr>
          <p:cNvPr id="100214" name="T2"/>
          <p:cNvSpPr txBox="1"/>
          <p:nvPr/>
        </p:nvSpPr>
        <p:spPr>
          <a:xfrm xmlns:a="http://schemas.openxmlformats.org/drawingml/2006/main">
            <a:off x="540000" y="1728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1A2E"/>
                </a:solidFill>
                <a:latin typeface="Calibri"/>
                <a:ea typeface="Calibri"/>
              </a:rPr>
              <a:t>Data Quality          Column types, missing values, stats, mismatch flags          Table + Badge</a:t>
            </a:r>
          </a:p>
        </p:txBody>
      </p:sp>
      <p:sp>
        <p:nvSpPr>
          <p:cNvPr id="100215" name="T3"/>
          <p:cNvSpPr txBox="1"/>
          <p:nvPr/>
        </p:nvSpPr>
        <p:spPr>
          <a:xfrm xmlns:a="http://schemas.openxmlformats.org/drawingml/2006/main">
            <a:off x="540000" y="2016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1A2E"/>
                </a:solidFill>
                <a:latin typeface="Calibri"/>
                <a:ea typeface="Calibri"/>
              </a:rPr>
              <a:t>Category Analysis     Revenue table, avg order, units sold, top products            Bar + Heatmap</a:t>
            </a:r>
          </a:p>
        </p:txBody>
      </p:sp>
      <p:sp>
        <p:nvSpPr>
          <p:cNvPr id="100216" name="T4"/>
          <p:cNvSpPr txBox="1"/>
          <p:nvPr/>
        </p:nvSpPr>
        <p:spPr>
          <a:xfrm xmlns:a="http://schemas.openxmlformats.org/drawingml/2006/main">
            <a:off x="540000" y="2304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1A2E"/>
                </a:solidFill>
                <a:latin typeface="Calibri"/>
                <a:ea typeface="Calibri"/>
              </a:rPr>
              <a:t>Branch &amp; City         Branch comparison, funnel, stacked category mix              Bar + Funnel</a:t>
            </a:r>
          </a:p>
        </p:txBody>
      </p:sp>
      <p:sp>
        <p:nvSpPr>
          <p:cNvPr id="100217" name="T5"/>
          <p:cNvSpPr txBox="1"/>
          <p:nvPr/>
        </p:nvSpPr>
        <p:spPr>
          <a:xfrm xmlns:a="http://schemas.openxmlformats.org/drawingml/2006/main">
            <a:off x="540000" y="2592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1A2E"/>
                </a:solidFill>
                <a:latin typeface="Calibri"/>
                <a:ea typeface="Calibri"/>
              </a:rPr>
              <a:t>Time Trends           Monthly dual-axis, day-of-week, revenue tier dist.            Line + Bar</a:t>
            </a:r>
          </a:p>
        </p:txBody>
      </p:sp>
      <p:sp>
        <p:nvSpPr>
          <p:cNvPr id="100218" name="T6"/>
          <p:cNvSpPr txBox="1"/>
          <p:nvPr/>
        </p:nvSpPr>
        <p:spPr>
          <a:xfrm xmlns:a="http://schemas.openxmlformats.org/drawingml/2006/main">
            <a:off x="540000" y="2880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1A2E"/>
                </a:solidFill>
                <a:latin typeface="Calibri"/>
                <a:ea typeface="Calibri"/>
              </a:rPr>
              <a:t>Payment &amp; Customer    Payment breakdown, member vs normal, gender, heatmap          Bar + Pie + Heatmap</a:t>
            </a:r>
          </a:p>
        </p:txBody>
      </p:sp>
      <p:sp>
        <p:nvSpPr>
          <p:cNvPr id="100219" name="T7"/>
          <p:cNvSpPr txBox="1"/>
          <p:nvPr/>
        </p:nvSpPr>
        <p:spPr>
          <a:xfrm xmlns:a="http://schemas.openxmlformats.org/drawingml/2006/main">
            <a:off x="540000" y="3168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1A2E"/>
                </a:solidFill>
                <a:latin typeface="Calibri"/>
                <a:ea typeface="Calibri"/>
              </a:rPr>
              <a:t>Ratings               Avg by category, distribution histogram, scatter              Bar + Scatter</a:t>
            </a:r>
          </a:p>
        </p:txBody>
      </p:sp>
      <p:sp>
        <p:nvSpPr>
          <p:cNvPr id="100220" name="T8"/>
          <p:cNvSpPr txBox="1"/>
          <p:nvPr/>
        </p:nvSpPr>
        <p:spPr>
          <a:xfrm xmlns:a="http://schemas.openxmlformats.org/drawingml/2006/main">
            <a:off x="540000" y="3456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  <a:latin typeface="Calibri"/>
                <a:ea typeface="Calibri"/>
              </a:rPr>
              <a:t>Business Insights     8 data-driven cards + branch KPI radar comparison            Radar Chart</a:t>
            </a:r>
          </a:p>
        </p:txBody>
      </p:sp>
      <p:sp>
        <p:nvSpPr>
          <p:cNvPr id="100221" name="FiltersTitle"/>
          <p:cNvSpPr txBox="1"/>
          <p:nvPr/>
        </p:nvSpPr>
        <p:spPr>
          <a:xfrm xmlns:a="http://schemas.openxmlformats.org/drawingml/2006/main">
            <a:off x="540000" y="3888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A1A2E"/>
                </a:solidFill>
                <a:latin typeface="Calibri"/>
                <a:ea typeface="Calibri"/>
              </a:rPr>
              <a:t>Sidebar Filters (applied globally to all tabs)</a:t>
            </a:r>
          </a:p>
        </p:txBody>
      </p:sp>
      <p:sp>
        <p:nvSpPr>
          <p:cNvPr id="100222" name="Filters"/>
          <p:cNvSpPr txBox="1"/>
          <p:nvPr/>
        </p:nvSpPr>
        <p:spPr>
          <a:xfrm xmlns:a="http://schemas.openxmlformats.org/drawingml/2006/main">
            <a:off x="540000" y="4212000"/>
            <a:ext cx="1080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  <a:latin typeface="Calibri"/>
                <a:ea typeface="Calibri"/>
              </a:rPr>
              <a:t>Branch (multi-select)   |   City (multi-select)   |   Category (multi-select)   |   Payment Method (multi-select)   |   Date Range Picker   |   CSV File Uploader</a:t>
            </a:r>
          </a:p>
        </p:txBody>
      </p:sp>
      <p:sp>
        <p:nvSpPr>
          <p:cNvPr id="100223" name="ProjectFiles"/>
          <p:cNvSpPr txBox="1"/>
          <p:nvPr/>
        </p:nvSpPr>
        <p:spPr>
          <a:xfrm xmlns:a="http://schemas.openxmlformats.org/drawingml/2006/main">
            <a:off x="540000" y="4680000"/>
            <a:ext cx="1080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33333"/>
                </a:solidFill>
                <a:latin typeface="Calibri"/>
                <a:ea typeface="Calibri"/>
              </a:rPr>
              <a:t>data_loader.py — Load, clean, validate, feature engineer</a:t>
            </a:r>
          </a:p>
          <a:p xmlns:a="http://schemas.openxmlformats.org/drawingml/2006/main">
            <a:r>
              <a:rPr lang="en-US" sz="1300">
                <a:solidFill>
                  <a:srgbClr val="333333"/>
                </a:solidFill>
                <a:latin typeface="Calibri"/>
                <a:ea typeface="Calibri"/>
              </a:rPr>
              <a:t>analytics.py — KPIs, aggregations, 8 insight generators</a:t>
            </a:r>
          </a:p>
          <a:p xmlns:a="http://schemas.openxmlformats.org/drawingml/2006/main">
            <a:r>
              <a:rPr lang="en-US" sz="1300">
                <a:solidFill>
                  <a:srgbClr val="333333"/>
                </a:solidFill>
                <a:latin typeface="Calibri"/>
                <a:ea typeface="Calibri"/>
              </a:rPr>
              <a:t>app.py — 530-line Streamlit frontend</a:t>
            </a:r>
          </a:p>
          <a:p xmlns:a="http://schemas.openxmlformats.org/drawingml/2006/main">
            <a:r>
              <a:rPr lang="en-US" sz="1300">
                <a:solidFill>
                  <a:srgbClr val="333333"/>
                </a:solidFill>
                <a:latin typeface="Calibri"/>
                <a:ea typeface="Calibri"/>
              </a:rPr>
              <a:t>requirements.txt — streamlit, pandas, plotly, numpy</a:t>
            </a:r>
          </a:p>
        </p:txBody>
      </p:sp>
      <p:sp>
        <p:nvSpPr>
          <p:cNvPr id="100224" name="AccentLine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E94560"/>
              </a:solidFill>
            </a:endParaRPr>
          </a:p>
        </p:txBody>
      </p:sp>
    </p:spTree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/>
      <p:sp>
        <p:nvSpPr>
          <p:cNvPr id="100225" name="Header"/>
          <p:cNvSpPr txBox="1"/>
          <p:nvPr/>
        </p:nvSpPr>
        <p:spPr>
          <a:xfrm xmlns:a="http://schemas.openxmlformats.org/drawingml/2006/main">
            <a:off x="0" y="0"/>
            <a:ext cx="121932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26" name="SlideTitle"/>
          <p:cNvSpPr txBox="1"/>
          <p:nvPr/>
        </p:nvSpPr>
        <p:spPr>
          <a:xfrm xmlns:a="http://schemas.openxmlformats.org/drawingml/2006/main">
            <a:off x="540000" y="72000"/>
            <a:ext cx="1008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12  Conclusion</a:t>
            </a:r>
          </a:p>
        </p:txBody>
      </p:sp>
      <p:sp>
        <p:nvSpPr>
          <p:cNvPr id="100227" name="SlideNum"/>
          <p:cNvSpPr txBox="1"/>
          <p:nvPr/>
        </p:nvSpPr>
        <p:spPr>
          <a:xfrm xmlns:a="http://schemas.openxmlformats.org/drawingml/2006/main">
            <a:off x="11160000" y="72000"/>
            <a:ext cx="72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E94560"/>
                </a:solidFill>
                <a:latin typeface="Calibri"/>
                <a:ea typeface="Calibri"/>
              </a:rPr>
              <a:t>14</a:t>
            </a:r>
          </a:p>
        </p:txBody>
      </p:sp>
      <p:sp>
        <p:nvSpPr>
          <p:cNvPr id="100228" name="SummaryTitle"/>
          <p:cNvSpPr txBox="1"/>
          <p:nvPr/>
        </p:nvSpPr>
        <p:spPr>
          <a:xfrm xmlns:a="http://schemas.openxmlformats.org/drawingml/2006/main">
            <a:off x="540000" y="792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A1A2E"/>
                </a:solidFill>
                <a:latin typeface="Calibri"/>
                <a:ea typeface="Calibri"/>
              </a:rPr>
              <a:t>Project Summary</a:t>
            </a:r>
          </a:p>
        </p:txBody>
      </p:sp>
      <p:sp>
        <p:nvSpPr>
          <p:cNvPr id="100229" name="Summary"/>
          <p:cNvSpPr txBox="1"/>
          <p:nvPr/>
        </p:nvSpPr>
        <p:spPr>
          <a:xfrm xmlns:a="http://schemas.openxmlformats.org/drawingml/2006/main">
            <a:off x="540000" y="1116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This project successfully demonstrated a complete data analytics pipeline on a real-world supermarket sales dataset. Starting from raw CSV data, we applied structured data engineering, statistical analysis, and visual storytelling to extract meaningful business intelligence.</a:t>
            </a:r>
          </a:p>
        </p:txBody>
      </p:sp>
      <p:sp>
        <p:nvSpPr>
          <p:cNvPr id="100230" name="AchTitle"/>
          <p:cNvSpPr txBox="1"/>
          <p:nvPr/>
        </p:nvSpPr>
        <p:spPr>
          <a:xfrm xmlns:a="http://schemas.openxmlformats.org/drawingml/2006/main">
            <a:off x="540000" y="1908000"/>
            <a:ext cx="522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A1A2E"/>
                </a:solidFill>
                <a:latin typeface="Calibri"/>
                <a:ea typeface="Calibri"/>
              </a:rPr>
              <a:t>What Was Achieved</a:t>
            </a:r>
          </a:p>
        </p:txBody>
      </p:sp>
      <p:sp>
        <p:nvSpPr>
          <p:cNvPr id="100231" name="Ach1"/>
          <p:cNvSpPr txBox="1"/>
          <p:nvPr/>
        </p:nvSpPr>
        <p:spPr>
          <a:xfrm xmlns:a="http://schemas.openxmlformats.org/drawingml/2006/main">
            <a:off x="540000" y="2232000"/>
            <a:ext cx="522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33333"/>
                </a:solidFill>
                <a:latin typeface="Calibri"/>
                <a:ea typeface="Calibri"/>
              </a:rPr>
              <a:t>Loaded and validated 500 transaction records</a:t>
            </a:r>
          </a:p>
        </p:txBody>
      </p:sp>
      <p:sp>
        <p:nvSpPr>
          <p:cNvPr id="100232" name="Ach2"/>
          <p:cNvSpPr txBox="1"/>
          <p:nvPr/>
        </p:nvSpPr>
        <p:spPr>
          <a:xfrm xmlns:a="http://schemas.openxmlformats.org/drawingml/2006/main">
            <a:off x="540000" y="2484000"/>
            <a:ext cx="522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33333"/>
                </a:solidFill>
                <a:latin typeface="Calibri"/>
                <a:ea typeface="Calibri"/>
              </a:rPr>
              <a:t>Zero data quality issues found — clean dataset</a:t>
            </a:r>
          </a:p>
        </p:txBody>
      </p:sp>
      <p:sp>
        <p:nvSpPr>
          <p:cNvPr id="100233" name="Ach3"/>
          <p:cNvSpPr txBox="1"/>
          <p:nvPr/>
        </p:nvSpPr>
        <p:spPr>
          <a:xfrm xmlns:a="http://schemas.openxmlformats.org/drawingml/2006/main">
            <a:off x="540000" y="2736000"/>
            <a:ext cx="522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33333"/>
                </a:solidFill>
                <a:latin typeface="Calibri"/>
                <a:ea typeface="Calibri"/>
              </a:rPr>
              <a:t>Sales formula verified across all 500 rows</a:t>
            </a:r>
          </a:p>
        </p:txBody>
      </p:sp>
      <p:sp>
        <p:nvSpPr>
          <p:cNvPr id="100234" name="Ach4"/>
          <p:cNvSpPr txBox="1"/>
          <p:nvPr/>
        </p:nvSpPr>
        <p:spPr>
          <a:xfrm xmlns:a="http://schemas.openxmlformats.org/drawingml/2006/main">
            <a:off x="540000" y="2988000"/>
            <a:ext cx="522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33333"/>
                </a:solidFill>
                <a:latin typeface="Calibri"/>
                <a:ea typeface="Calibri"/>
              </a:rPr>
              <a:t>10+ groupings and aggregations computed</a:t>
            </a:r>
          </a:p>
        </p:txBody>
      </p:sp>
      <p:sp>
        <p:nvSpPr>
          <p:cNvPr id="100235" name="Ach5"/>
          <p:cNvSpPr txBox="1"/>
          <p:nvPr/>
        </p:nvSpPr>
        <p:spPr>
          <a:xfrm xmlns:a="http://schemas.openxmlformats.org/drawingml/2006/main">
            <a:off x="540000" y="3240000"/>
            <a:ext cx="522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33333"/>
                </a:solidFill>
                <a:latin typeface="Calibri"/>
                <a:ea typeface="Calibri"/>
              </a:rPr>
              <a:t>20+ interactive Plotly charts created</a:t>
            </a:r>
          </a:p>
        </p:txBody>
      </p:sp>
      <p:sp>
        <p:nvSpPr>
          <p:cNvPr id="100236" name="Ach6"/>
          <p:cNvSpPr txBox="1"/>
          <p:nvPr/>
        </p:nvSpPr>
        <p:spPr>
          <a:xfrm xmlns:a="http://schemas.openxmlformats.org/drawingml/2006/main">
            <a:off x="540000" y="3492000"/>
            <a:ext cx="522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33333"/>
                </a:solidFill>
                <a:latin typeface="Calibri"/>
                <a:ea typeface="Calibri"/>
              </a:rPr>
              <a:t>8 data-driven business recommendations generated</a:t>
            </a:r>
          </a:p>
        </p:txBody>
      </p:sp>
      <p:sp>
        <p:nvSpPr>
          <p:cNvPr id="100237" name="Ach7"/>
          <p:cNvSpPr txBox="1"/>
          <p:nvPr/>
        </p:nvSpPr>
        <p:spPr>
          <a:xfrm xmlns:a="http://schemas.openxmlformats.org/drawingml/2006/main">
            <a:off x="540000" y="3744000"/>
            <a:ext cx="522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33333"/>
                </a:solidFill>
                <a:latin typeface="Calibri"/>
                <a:ea typeface="Calibri"/>
              </a:rPr>
              <a:t>Full Streamlit dashboard deployed (8 tabs)</a:t>
            </a:r>
          </a:p>
        </p:txBody>
      </p:sp>
      <p:sp>
        <p:nvSpPr>
          <p:cNvPr id="100238" name="KeyNumTitle"/>
          <p:cNvSpPr txBox="1"/>
          <p:nvPr/>
        </p:nvSpPr>
        <p:spPr>
          <a:xfrm xmlns:a="http://schemas.openxmlformats.org/drawingml/2006/main">
            <a:off x="6300000" y="1908000"/>
            <a:ext cx="54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A1A2E"/>
                </a:solidFill>
                <a:latin typeface="Calibri"/>
                <a:ea typeface="Calibri"/>
              </a:rPr>
              <a:t>Key Numbers at a Glance</a:t>
            </a:r>
          </a:p>
        </p:txBody>
      </p:sp>
      <p:sp>
        <p:nvSpPr>
          <p:cNvPr id="100239" name="N1"/>
          <p:cNvSpPr txBox="1"/>
          <p:nvPr/>
        </p:nvSpPr>
        <p:spPr>
          <a:xfrm xmlns:a="http://schemas.openxmlformats.org/drawingml/2006/main">
            <a:off x="6300000" y="2232000"/>
            <a:ext cx="54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Rs 2,44,411   Total Revenue</a:t>
            </a:r>
          </a:p>
        </p:txBody>
      </p:sp>
      <p:sp>
        <p:nvSpPr>
          <p:cNvPr id="100240" name="N2"/>
          <p:cNvSpPr txBox="1"/>
          <p:nvPr/>
        </p:nvSpPr>
        <p:spPr>
          <a:xfrm xmlns:a="http://schemas.openxmlformats.org/drawingml/2006/main">
            <a:off x="6300000" y="2556000"/>
            <a:ext cx="54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Rs 488.82      Avg Order Value</a:t>
            </a:r>
          </a:p>
        </p:txBody>
      </p:sp>
      <p:sp>
        <p:nvSpPr>
          <p:cNvPr id="100241" name="N3"/>
          <p:cNvSpPr txBox="1"/>
          <p:nvPr/>
        </p:nvSpPr>
        <p:spPr>
          <a:xfrm xmlns:a="http://schemas.openxmlformats.org/drawingml/2006/main">
            <a:off x="6300000" y="2880000"/>
            <a:ext cx="54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Beverages (23%)  Top Category</a:t>
            </a:r>
          </a:p>
        </p:txBody>
      </p:sp>
      <p:sp>
        <p:nvSpPr>
          <p:cNvPr id="100242" name="N4"/>
          <p:cNvSpPr txBox="1"/>
          <p:nvPr/>
        </p:nvSpPr>
        <p:spPr>
          <a:xfrm xmlns:a="http://schemas.openxmlformats.org/drawingml/2006/main">
            <a:off x="6300000" y="3204000"/>
            <a:ext cx="54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Mumbai (Rs 72K)  Best Branch</a:t>
            </a:r>
          </a:p>
        </p:txBody>
      </p:sp>
      <p:sp>
        <p:nvSpPr>
          <p:cNvPr id="100243" name="N5"/>
          <p:cNvSpPr txBox="1"/>
          <p:nvPr/>
        </p:nvSpPr>
        <p:spPr>
          <a:xfrm xmlns:a="http://schemas.openxmlformats.org/drawingml/2006/main">
            <a:off x="6300000" y="3528000"/>
            <a:ext cx="54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UPI (25.4%)      Top Payment</a:t>
            </a:r>
          </a:p>
        </p:txBody>
      </p:sp>
      <p:sp>
        <p:nvSpPr>
          <p:cNvPr id="100244" name="N6"/>
          <p:cNvSpPr txBox="1"/>
          <p:nvPr/>
        </p:nvSpPr>
        <p:spPr>
          <a:xfrm xmlns:a="http://schemas.openxmlformats.org/drawingml/2006/main">
            <a:off x="6300000" y="3852000"/>
            <a:ext cx="54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3.99 / 5.0       Overall Rating</a:t>
            </a:r>
          </a:p>
        </p:txBody>
      </p:sp>
      <p:sp>
        <p:nvSpPr>
          <p:cNvPr id="100245" name="FutureTitle"/>
          <p:cNvSpPr txBox="1"/>
          <p:nvPr/>
        </p:nvSpPr>
        <p:spPr>
          <a:xfrm xmlns:a="http://schemas.openxmlformats.org/drawingml/2006/main">
            <a:off x="540000" y="4176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A1A2E"/>
                </a:solidFill>
                <a:latin typeface="Calibri"/>
                <a:ea typeface="Calibri"/>
              </a:rPr>
              <a:t>Future Enhancements</a:t>
            </a:r>
          </a:p>
        </p:txBody>
      </p:sp>
      <p:sp>
        <p:nvSpPr>
          <p:cNvPr id="100246" name="Future"/>
          <p:cNvSpPr txBox="1"/>
          <p:nvPr/>
        </p:nvSpPr>
        <p:spPr>
          <a:xfrm xmlns:a="http://schemas.openxmlformats.org/drawingml/2006/main">
            <a:off x="540000" y="450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33333"/>
                </a:solidFill>
                <a:latin typeface="Calibri"/>
                <a:ea typeface="Calibri"/>
              </a:rPr>
              <a:t>Predictive sales forecasting using ML regression  |  Customer segmentation with clustering  |  Real-time data pipeline integration  |  Inventory optimisation model</a:t>
            </a:r>
          </a:p>
        </p:txBody>
      </p:sp>
      <p:sp>
        <p:nvSpPr>
          <p:cNvPr id="100247" name="AccentLine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E94560"/>
              </a:solidFill>
            </a:endParaRPr>
          </a:p>
        </p:txBody>
      </p:sp>
    </p:spTree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A1A2E"/>
        </a:solidFill>
      </p:bgPr>
    </p:bg>
    <p:spTree>
      <p:nvGrpSpPr>
        <p:cNvPr id="1" name=""/>
        <p:cNvGrpSpPr/>
        <p:nvPr/>
      </p:nvGrpSpPr>
      <p:grpSpPr/>
      <p:sp>
        <p:nvSpPr>
          <p:cNvPr id="100248" name="TopBar"/>
          <p:cNvSpPr txBox="1"/>
          <p:nvPr/>
        </p:nvSpPr>
        <p:spPr>
          <a:xfrm xmlns:a="http://schemas.openxmlformats.org/drawingml/2006/main">
            <a:off x="0" y="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49" name="ThankYou"/>
          <p:cNvSpPr txBox="1"/>
          <p:nvPr/>
        </p:nvSpPr>
        <p:spPr>
          <a:xfrm xmlns:a="http://schemas.openxmlformats.org/drawingml/2006/main">
            <a:off x="1080000" y="1440000"/>
            <a:ext cx="1008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5400" b="1">
                <a:solidFill>
                  <a:srgbClr val="FFFFFF"/>
                </a:solidFill>
                <a:latin typeface="Calibri"/>
                <a:ea typeface="Calibri"/>
              </a:rPr>
              <a:t>Thank You</a:t>
            </a:r>
          </a:p>
        </p:txBody>
      </p:sp>
      <p:sp>
        <p:nvSpPr>
          <p:cNvPr id="100250" name="SubText"/>
          <p:cNvSpPr txBox="1"/>
          <p:nvPr/>
        </p:nvSpPr>
        <p:spPr>
          <a:xfrm xmlns:a="http://schemas.openxmlformats.org/drawingml/2006/main">
            <a:off x="1080000" y="2700000"/>
            <a:ext cx="10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>
                <a:solidFill>
                  <a:srgbClr val="A8DADC"/>
                </a:solidFill>
                <a:latin typeface="Calibri"/>
                <a:ea typeface="Calibri"/>
              </a:rPr>
              <a:t>Supermarket Sales Data Analytics Project</a:t>
            </a:r>
          </a:p>
        </p:txBody>
      </p:sp>
      <p:sp>
        <p:nvSpPr>
          <p:cNvPr id="100251" name="DataLine"/>
          <p:cNvSpPr txBox="1"/>
          <p:nvPr/>
        </p:nvSpPr>
        <p:spPr>
          <a:xfrm xmlns:a="http://schemas.openxmlformats.org/drawingml/2006/main">
            <a:off x="1080000" y="3420000"/>
            <a:ext cx="1008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CCCCCC"/>
                </a:solidFill>
                <a:latin typeface="Calibri"/>
                <a:ea typeface="Calibri"/>
              </a:rPr>
              <a:t>500 Transactions  |  Rs 2,44,411 Revenue  |  8 Categories  |  4 Branches  |  4 Cities</a:t>
            </a:r>
          </a:p>
        </p:txBody>
      </p:sp>
      <p:sp>
        <p:nvSpPr>
          <p:cNvPr id="100252" name="TechLine"/>
          <p:cNvSpPr txBox="1"/>
          <p:nvPr/>
        </p:nvSpPr>
        <p:spPr>
          <a:xfrm xmlns:a="http://schemas.openxmlformats.org/drawingml/2006/main">
            <a:off x="1080000" y="3960000"/>
            <a:ext cx="100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E94560"/>
                </a:solidFill>
                <a:latin typeface="Calibri"/>
                <a:ea typeface="Calibri"/>
              </a:rPr>
              <a:t>Python  |  Pandas  |  Plotly  |  NumPy  |  Streamlit</a:t>
            </a:r>
          </a:p>
        </p:txBody>
      </p:sp>
      <p:sp>
        <p:nvSpPr>
          <p:cNvPr id="100253" name="BottomBar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2026-09-11T12:48:07Z</dcterms:created>
  <cp:lastModifiedBy>OfficeCLI</cp:lastModifiedBy>
  <dcterms:modified xsi:type="dcterms:W3CDTF">2026-09-11T12:48:07Z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1.0.149</vt:lpwstr>
  </op:property>
  <op:property fmtid="{D5CDD505-2E9C-101B-9397-08002B2CF9AE}" pid="3" name="OfficeCLI.LastModified">
    <vt:lpwstr xmlns:vt="http://schemas.openxmlformats.org/officeDocument/2006/docPropsVTypes">2026-09-11T12:56:20Z</vt:lpwstr>
  </op:property>
</op:Properties>
</file>